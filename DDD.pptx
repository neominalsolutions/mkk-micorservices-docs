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Lst>
  <p:sldSz cy="6858000" cx="12192000"/>
  <p:notesSz cx="6858000" cy="9144000"/>
  <p:embeddedFontLst>
    <p:embeddedFont>
      <p:font typeface="Roboto"/>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font" Target="fonts/Roboto-italic.fntdata"/><Relationship Id="rId83" Type="http://schemas.openxmlformats.org/officeDocument/2006/relationships/font" Target="fonts/Roboto-bold.fntdata"/><Relationship Id="rId42" Type="http://schemas.openxmlformats.org/officeDocument/2006/relationships/slide" Target="slides/slide38.xml"/><Relationship Id="rId41" Type="http://schemas.openxmlformats.org/officeDocument/2006/relationships/slide" Target="slides/slide37.xml"/><Relationship Id="rId85" Type="http://schemas.openxmlformats.org/officeDocument/2006/relationships/font" Target="fonts/Roboto-boldItalic.fntdata"/><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slide" Target="slides/slide76.xml"/><Relationship Id="rId82" Type="http://schemas.openxmlformats.org/officeDocument/2006/relationships/font" Target="fonts/Roboto-regular.fntdata"/><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dc9bcf687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2dc9bcf687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2dc9bcf687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dc9bcf687c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2dc9bcf687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2dc9bcf687c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dc9bcf687c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2dc9bcf687c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g2dc9bcf687c_0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dc9bcf687c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2dc9bcf687c_0_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g2dc9bcf687c_0_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dc9bcf687c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2dc9bcf687c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2dc9bcf687c_0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dc9bcf687c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2dc9bcf687c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2dc9bcf687c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2003 Eric Evans</a:t>
            </a:r>
            <a:endParaRPr/>
          </a:p>
        </p:txBody>
      </p:sp>
      <p:sp>
        <p:nvSpPr>
          <p:cNvPr id="193" name="Google Shape;19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 iki tarafta uygulamadaki yapıları aynı şekilde anlayacak bir isimlendirmede el sıkışmalıdır.</a:t>
            </a:r>
            <a:endParaRPr/>
          </a:p>
          <a:p>
            <a:pPr indent="0" lvl="0" marL="0" rtl="0" algn="l">
              <a:spcBef>
                <a:spcPts val="0"/>
              </a:spcBef>
              <a:spcAft>
                <a:spcPts val="0"/>
              </a:spcAft>
              <a:buNone/>
            </a:pPr>
            <a:r>
              <a:t/>
            </a:r>
            <a:endParaRPr/>
          </a:p>
        </p:txBody>
      </p:sp>
      <p:sp>
        <p:nvSpPr>
          <p:cNvPr id="207" name="Google Shape;20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 iki tarafta uygulamadaki yapıları aynı şekilde anlayacak bir isimlendirmede el sıkışmalıdır.</a:t>
            </a:r>
            <a:endParaRPr/>
          </a:p>
          <a:p>
            <a:pPr indent="0" lvl="0" marL="0" rtl="0" algn="l">
              <a:spcBef>
                <a:spcPts val="0"/>
              </a:spcBef>
              <a:spcAft>
                <a:spcPts val="0"/>
              </a:spcAft>
              <a:buNone/>
            </a:pPr>
            <a:r>
              <a:t/>
            </a:r>
            <a:endParaRPr/>
          </a:p>
        </p:txBody>
      </p:sp>
      <p:sp>
        <p:nvSpPr>
          <p:cNvPr id="217" name="Google Shape;21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 iki tarafta uygulamadaki yapıları aynı şekilde anlayacak bir isimlendirmede el sıkışmalıdır.</a:t>
            </a:r>
            <a:endParaRPr/>
          </a:p>
          <a:p>
            <a:pPr indent="0" lvl="0" marL="0" rtl="0" algn="l">
              <a:spcBef>
                <a:spcPts val="0"/>
              </a:spcBef>
              <a:spcAft>
                <a:spcPts val="0"/>
              </a:spcAft>
              <a:buNone/>
            </a:pPr>
            <a:r>
              <a:t/>
            </a:r>
            <a:endParaRPr/>
          </a:p>
        </p:txBody>
      </p:sp>
      <p:sp>
        <p:nvSpPr>
          <p:cNvPr id="224" name="Google Shape;22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Stratejik Önem: Rekabet avantajı sağlayan veya belirleyici bir rol oynayan iş süreçleri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Yüksek Değer: Ana gelir modeli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Uzmanlık Alanı Organizasyon en iyi olduğu alan;</a:t>
            </a:r>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298" name="Google Shape;298;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Stratejik Önem: Rekabet avantajı sağlayan veya belirleyici bir rol oynayan iş süreçleri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Yüksek Değer: Ana gelir modeli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Uzmanlık Alanı Organizasyon en iyi olduğu alan;</a:t>
            </a:r>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05" name="Google Shape;305;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Stratejik Önem: Rekabet avantajı sağlayan veya belirleyici bir rol oynayan iş süreçleri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Yüksek Değer: Ana gelir modeli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Uzmanlık Alanı Organizasyon en iyi olduğu alan;</a:t>
            </a:r>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12" name="Google Shape;31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Stratejik Önem: Rekabet avantajı sağlayan veya belirleyici bir rol oynayan iş süreçleri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Yüksek Değer: Ana gelir modeli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Uzmanlık Alanı Organizasyon en iyi olduğu alan;</a:t>
            </a:r>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19" name="Google Shape;31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Stratejik Önem: Rekabet avantajı sağlayan veya belirleyici bir rol oynayan iş süreçleri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Yüksek Değer: Ana gelir modeli</a:t>
            </a:r>
            <a:endParaRPr/>
          </a:p>
          <a:p>
            <a:pPr indent="0" lvl="0" marL="0" marR="0" rtl="0" algn="l">
              <a:lnSpc>
                <a:spcPct val="100000"/>
              </a:lnSpc>
              <a:spcBef>
                <a:spcPts val="0"/>
              </a:spcBef>
              <a:spcAft>
                <a:spcPts val="0"/>
              </a:spcAft>
              <a:buClr>
                <a:srgbClr val="3F3F3F"/>
              </a:buClr>
              <a:buSzPts val="1200"/>
              <a:buFont typeface="Calibri"/>
              <a:buNone/>
            </a:pPr>
            <a:r>
              <a:rPr lang="en-US">
                <a:solidFill>
                  <a:srgbClr val="3F3F3F"/>
                </a:solidFill>
              </a:rPr>
              <a:t>Uzmanlık Alanı Organizasyon en iyi olduğu alan;</a:t>
            </a:r>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26" name="Google Shape;32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33" name="Google Shape;333;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40" name="Google Shape;34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47" name="Google Shape;34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61" name="Google Shape;36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69" name="Google Shape;36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marR="0" rtl="0" algn="l">
              <a:lnSpc>
                <a:spcPct val="100000"/>
              </a:lnSpc>
              <a:spcBef>
                <a:spcPts val="0"/>
              </a:spcBef>
              <a:spcAft>
                <a:spcPts val="0"/>
              </a:spcAft>
              <a:buClr>
                <a:schemeClr val="dk1"/>
              </a:buClr>
              <a:buSzPts val="1200"/>
              <a:buFont typeface="Calibri"/>
              <a:buNone/>
            </a:pPr>
            <a:r>
              <a:t/>
            </a:r>
            <a:endParaRPr>
              <a:solidFill>
                <a:srgbClr val="3F3F3F"/>
              </a:solidFill>
            </a:endParaRPr>
          </a:p>
          <a:p>
            <a:pPr indent="0" lvl="0" marL="0" rtl="0" algn="l">
              <a:spcBef>
                <a:spcPts val="0"/>
              </a:spcBef>
              <a:spcAft>
                <a:spcPts val="0"/>
              </a:spcAft>
              <a:buNone/>
            </a:pPr>
            <a:r>
              <a:t/>
            </a:r>
            <a:endParaRPr/>
          </a:p>
        </p:txBody>
      </p:sp>
      <p:sp>
        <p:nvSpPr>
          <p:cNvPr id="377" name="Google Shape;37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Uygulama üsten aşağı doğru evrimleşerek son halini alır.</a:t>
            </a:r>
            <a:endParaRPr/>
          </a:p>
        </p:txBody>
      </p:sp>
      <p:sp>
        <p:nvSpPr>
          <p:cNvPr id="413" name="Google Shape;413;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Uygulama üsten aşağı doğru evrimleşerek son halini alır.</a:t>
            </a:r>
            <a:endParaRPr/>
          </a:p>
        </p:txBody>
      </p:sp>
      <p:sp>
        <p:nvSpPr>
          <p:cNvPr id="420" name="Google Shape;42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Uygulama üsten aşağı doğru evrimleşerek son halini alır.</a:t>
            </a:r>
            <a:endParaRPr/>
          </a:p>
        </p:txBody>
      </p:sp>
      <p:sp>
        <p:nvSpPr>
          <p:cNvPr id="428" name="Google Shape;428;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Nehir örneği verelim.</a:t>
            </a:r>
            <a:endParaRPr/>
          </a:p>
        </p:txBody>
      </p:sp>
      <p:sp>
        <p:nvSpPr>
          <p:cNvPr id="435" name="Google Shape;43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Nehir örneği verelim.</a:t>
            </a:r>
            <a:endParaRPr/>
          </a:p>
        </p:txBody>
      </p:sp>
      <p:sp>
        <p:nvSpPr>
          <p:cNvPr id="443" name="Google Shape;44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Uygulama üsten aşağı doğru evrimleşerek son halini alır.</a:t>
            </a:r>
            <a:endParaRPr/>
          </a:p>
        </p:txBody>
      </p:sp>
      <p:sp>
        <p:nvSpPr>
          <p:cNvPr id="450" name="Google Shape;450;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Uygulama üsten aşağı doğru evrimleşerek son halini alır.</a:t>
            </a:r>
            <a:endParaRPr/>
          </a:p>
        </p:txBody>
      </p:sp>
      <p:sp>
        <p:nvSpPr>
          <p:cNvPr id="458" name="Google Shape;458;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Uygulama üsten aşağı doğru evrimleşerek son halini alır.</a:t>
            </a:r>
            <a:endParaRPr/>
          </a:p>
        </p:txBody>
      </p:sp>
      <p:sp>
        <p:nvSpPr>
          <p:cNvPr id="465" name="Google Shape;46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Mikro servis mimarilerinde shared kernel bağımlık oluşturduğundan dolayı kullanımı önerilmez.</a:t>
            </a:r>
            <a:endParaRPr/>
          </a:p>
        </p:txBody>
      </p:sp>
      <p:sp>
        <p:nvSpPr>
          <p:cNvPr id="472" name="Google Shape;472;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Partnership ilişkisinde, bir tarafın başarısızlığı genellikle diğer tarafı da etkiler. Bu yüzden sürekli koordinasyon ve iletişim esastır.</a:t>
            </a:r>
            <a:endParaRPr b="0" i="1">
              <a:solidFill>
                <a:srgbClr val="242424"/>
              </a:solidFill>
              <a:latin typeface="Arial"/>
              <a:ea typeface="Arial"/>
              <a:cs typeface="Arial"/>
              <a:sym typeface="Arial"/>
            </a:endParaRPr>
          </a:p>
          <a:p>
            <a:pPr indent="0" lvl="0" marL="0" rtl="0" algn="l">
              <a:spcBef>
                <a:spcPts val="0"/>
              </a:spcBef>
              <a:spcAft>
                <a:spcPts val="0"/>
              </a:spcAft>
              <a:buNone/>
            </a:pPr>
            <a:r>
              <a:t/>
            </a:r>
            <a:endParaRPr b="0" i="1">
              <a:solidFill>
                <a:srgbClr val="242424"/>
              </a:solidFill>
              <a:latin typeface="Arial"/>
              <a:ea typeface="Arial"/>
              <a:cs typeface="Arial"/>
              <a:sym typeface="Arial"/>
            </a:endParaRPr>
          </a:p>
          <a:p>
            <a:pPr indent="0" lvl="0" marL="0" rtl="0" algn="l">
              <a:spcBef>
                <a:spcPts val="0"/>
              </a:spcBef>
              <a:spcAft>
                <a:spcPts val="0"/>
              </a:spcAft>
              <a:buNone/>
            </a:pPr>
            <a:r>
              <a:rPr b="0" i="1" lang="en-US">
                <a:solidFill>
                  <a:srgbClr val="242424"/>
                </a:solidFill>
                <a:latin typeface="Arial"/>
                <a:ea typeface="Arial"/>
                <a:cs typeface="Arial"/>
                <a:sym typeface="Arial"/>
              </a:rPr>
              <a:t>Bounded Contextler arasında sıkı sıkıya bir bağımlık oluşturur.</a:t>
            </a:r>
            <a:endParaRPr/>
          </a:p>
        </p:txBody>
      </p:sp>
      <p:sp>
        <p:nvSpPr>
          <p:cNvPr id="480" name="Google Shape;480;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Conformist ilişkisinde, tüketici taraf, sağlayıcı tarafın gelecekte yapacağı değişikliklere ayak uydurmak zorundadır.</a:t>
            </a:r>
            <a:endParaRPr/>
          </a:p>
        </p:txBody>
      </p:sp>
      <p:sp>
        <p:nvSpPr>
          <p:cNvPr id="488" name="Google Shape;488;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Tedarikçi tarafı genellikle müşteri tarafına göre daha az esnektir. Çünkü tedarikçi taraf, genellikle kendi alanında uzmanlaşmıştır ve hal-i hazırda bir ürünü sunmaktadır.</a:t>
            </a:r>
            <a:endParaRPr/>
          </a:p>
        </p:txBody>
      </p:sp>
      <p:sp>
        <p:nvSpPr>
          <p:cNvPr id="496" name="Google Shape;496;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Conformist ilişkisinde, tüketici taraf, sağlayıcı tarafın gelecekte yapacağı değişikliklere ayak uydurmak zorundadır.</a:t>
            </a:r>
            <a:endParaRPr/>
          </a:p>
        </p:txBody>
      </p:sp>
      <p:sp>
        <p:nvSpPr>
          <p:cNvPr id="504" name="Google Shape;504;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0" name="Google Shape;510;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Conformist ilişkisinde, tüketici taraf, sağlayıcı tarafın gelecekte yapacağı değişikliklere ayak uydurmak zorundadır.</a:t>
            </a:r>
            <a:endParaRPr/>
          </a:p>
        </p:txBody>
      </p:sp>
      <p:sp>
        <p:nvSpPr>
          <p:cNvPr id="511" name="Google Shape;511;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Conformist ilişkisinde, tüketici taraf, sağlayıcı tarafın gelecekte yapacağı değişikliklere ayak uydurmak zorundadır.</a:t>
            </a:r>
            <a:endParaRPr/>
          </a:p>
        </p:txBody>
      </p:sp>
      <p:sp>
        <p:nvSpPr>
          <p:cNvPr id="518" name="Google Shape;518;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Open-host service ilişki tipi için versiyonlama olmazsa olmazdır.</a:t>
            </a:r>
            <a:endParaRPr/>
          </a:p>
        </p:txBody>
      </p:sp>
      <p:sp>
        <p:nvSpPr>
          <p:cNvPr id="526" name="Google Shape;526;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Open-host service ilişki tipi için versiyonlama olmazsa olmazdır.</a:t>
            </a:r>
            <a:endParaRPr/>
          </a:p>
        </p:txBody>
      </p:sp>
      <p:sp>
        <p:nvSpPr>
          <p:cNvPr id="534" name="Google Shape;534;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Open-host service ilişki tipi için versiyonlama olmazsa olmazdır.</a:t>
            </a:r>
            <a:endParaRPr/>
          </a:p>
        </p:txBody>
      </p:sp>
      <p:sp>
        <p:nvSpPr>
          <p:cNvPr id="541" name="Google Shape;541;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1" lang="en-US">
                <a:solidFill>
                  <a:srgbClr val="242424"/>
                </a:solidFill>
                <a:latin typeface="Arial"/>
                <a:ea typeface="Arial"/>
                <a:cs typeface="Arial"/>
                <a:sym typeface="Arial"/>
              </a:rPr>
              <a:t>Sistem, koca bir çamur topu ise henüz domain-driven design’ı tam olarak benimseyemezsiniz demektir.</a:t>
            </a:r>
            <a:endParaRPr/>
          </a:p>
        </p:txBody>
      </p:sp>
      <p:sp>
        <p:nvSpPr>
          <p:cNvPr id="548" name="Google Shape;548;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10323e0d6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4" name="Google Shape;554;g310323e0d6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0" name="Google Shape;560;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7" name="Google Shape;567;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Sadece property barındırmaz. Methodlar ile kuralların kontrolü entity içerisinde sağlanır. Cohesion yüksektir.</a:t>
            </a:r>
            <a:endParaRPr/>
          </a:p>
          <a:p>
            <a:pPr indent="0" lvl="0" marL="0" rtl="0" algn="l">
              <a:spcBef>
                <a:spcPts val="0"/>
              </a:spcBef>
              <a:spcAft>
                <a:spcPts val="0"/>
              </a:spcAft>
              <a:buNone/>
            </a:pPr>
            <a:r>
              <a:t/>
            </a:r>
            <a:endParaRPr/>
          </a:p>
        </p:txBody>
      </p:sp>
      <p:sp>
        <p:nvSpPr>
          <p:cNvPr id="577" name="Google Shape;577;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3" name="Google Shape;583;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2" name="Google Shape;592;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Sipariş Verildiğinde Stokdan Düşme, </a:t>
            </a:r>
            <a:endParaRPr/>
          </a:p>
        </p:txBody>
      </p:sp>
      <p:sp>
        <p:nvSpPr>
          <p:cNvPr id="628" name="Google Shape;628;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 mimarinin yaratıcısı olarak “Uncle Bob” adıyla tanınan Robert C. Martin’dir.</a:t>
            </a:r>
            <a:endParaRPr/>
          </a:p>
        </p:txBody>
      </p:sp>
      <p:sp>
        <p:nvSpPr>
          <p:cNvPr id="635" name="Google Shape;635;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Okuma ve Yazma işlemlerini ayrı bir katmanda gerçekleştirir</a:t>
            </a:r>
            <a:endParaRPr/>
          </a:p>
          <a:p>
            <a:pPr indent="0" lvl="0" marL="0" rtl="0" algn="l">
              <a:spcBef>
                <a:spcPts val="0"/>
              </a:spcBef>
              <a:spcAft>
                <a:spcPts val="0"/>
              </a:spcAft>
              <a:buNone/>
            </a:pPr>
            <a:r>
              <a:t/>
            </a:r>
            <a:endParaRPr/>
          </a:p>
        </p:txBody>
      </p:sp>
      <p:sp>
        <p:nvSpPr>
          <p:cNvPr id="667" name="Google Shape;667;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MediatR In Memory Event Based Open Source Packages</a:t>
            </a:r>
            <a:endParaRPr/>
          </a:p>
        </p:txBody>
      </p:sp>
      <p:sp>
        <p:nvSpPr>
          <p:cNvPr id="675" name="Google Shape;675;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2"/>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2" name="Google Shape;22;p2"/>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3"/>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0" name="Google Shape;30;p3"/>
          <p:cNvSpPr/>
          <p:nvPr/>
        </p:nvSpPr>
        <p:spPr>
          <a:xfrm flipH="1">
            <a:off x="12353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8" name="Google Shape;38;p4"/>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5"/>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47" name="Google Shape;47;p5"/>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6"/>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58" name="Google Shape;58;p6"/>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4" name="Google Shape;64;p7"/>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65" name="Google Shape;65;p7"/>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8"/>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71" name="Google Shape;71;p8"/>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9"/>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0" name="Google Shape;80;p9"/>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0"/>
          <p:cNvSpPr/>
          <p:nvPr>
            <p:ph idx="2" type="pic"/>
          </p:nvPr>
        </p:nvSpPr>
        <p:spPr>
          <a:xfrm>
            <a:off x="5183188" y="987425"/>
            <a:ext cx="6172200" cy="4873625"/>
          </a:xfrm>
          <a:prstGeom prst="rect">
            <a:avLst/>
          </a:prstGeom>
          <a:noFill/>
          <a:ln>
            <a:noFill/>
          </a:ln>
        </p:spPr>
      </p:sp>
      <p:sp>
        <p:nvSpPr>
          <p:cNvPr id="84" name="Google Shape;8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10"/>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9" name="Google Shape;89;p10"/>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6" name="Google Shape;96;p11"/>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97" name="Google Shape;97;p11"/>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12"/>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05" name="Google Shape;105;p12"/>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wentieth Century"/>
              <a:buNone/>
              <a:defRPr b="0" i="0" sz="440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venir"/>
                <a:ea typeface="Avenir"/>
                <a:cs typeface="Avenir"/>
                <a:sym typeface="Avenir"/>
              </a:defRPr>
            </a:lvl1pPr>
            <a:lvl2pPr indent="0" lvl="1" marL="0" marR="0" rtl="0" algn="r">
              <a:spcBef>
                <a:spcPts val="0"/>
              </a:spcBef>
              <a:buNone/>
              <a:defRPr b="0" i="0" sz="1200" u="none" cap="none" strike="noStrike">
                <a:solidFill>
                  <a:srgbClr val="888888"/>
                </a:solidFill>
                <a:latin typeface="Avenir"/>
                <a:ea typeface="Avenir"/>
                <a:cs typeface="Avenir"/>
                <a:sym typeface="Avenir"/>
              </a:defRPr>
            </a:lvl2pPr>
            <a:lvl3pPr indent="0" lvl="2" marL="0" marR="0" rtl="0" algn="r">
              <a:spcBef>
                <a:spcPts val="0"/>
              </a:spcBef>
              <a:buNone/>
              <a:defRPr b="0" i="0" sz="1200" u="none" cap="none" strike="noStrike">
                <a:solidFill>
                  <a:srgbClr val="888888"/>
                </a:solidFill>
                <a:latin typeface="Avenir"/>
                <a:ea typeface="Avenir"/>
                <a:cs typeface="Avenir"/>
                <a:sym typeface="Avenir"/>
              </a:defRPr>
            </a:lvl3pPr>
            <a:lvl4pPr indent="0" lvl="3" marL="0" marR="0" rtl="0" algn="r">
              <a:spcBef>
                <a:spcPts val="0"/>
              </a:spcBef>
              <a:buNone/>
              <a:defRPr b="0" i="0" sz="1200" u="none" cap="none" strike="noStrike">
                <a:solidFill>
                  <a:srgbClr val="888888"/>
                </a:solidFill>
                <a:latin typeface="Avenir"/>
                <a:ea typeface="Avenir"/>
                <a:cs typeface="Avenir"/>
                <a:sym typeface="Avenir"/>
              </a:defRPr>
            </a:lvl4pPr>
            <a:lvl5pPr indent="0" lvl="4" marL="0" marR="0" rtl="0" algn="r">
              <a:spcBef>
                <a:spcPts val="0"/>
              </a:spcBef>
              <a:buNone/>
              <a:defRPr b="0" i="0" sz="1200" u="none" cap="none" strike="noStrike">
                <a:solidFill>
                  <a:srgbClr val="888888"/>
                </a:solidFill>
                <a:latin typeface="Avenir"/>
                <a:ea typeface="Avenir"/>
                <a:cs typeface="Avenir"/>
                <a:sym typeface="Avenir"/>
              </a:defRPr>
            </a:lvl5pPr>
            <a:lvl6pPr indent="0" lvl="5" marL="0" marR="0" rtl="0" algn="r">
              <a:spcBef>
                <a:spcPts val="0"/>
              </a:spcBef>
              <a:buNone/>
              <a:defRPr b="0" i="0" sz="1200" u="none" cap="none" strike="noStrike">
                <a:solidFill>
                  <a:srgbClr val="888888"/>
                </a:solidFill>
                <a:latin typeface="Avenir"/>
                <a:ea typeface="Avenir"/>
                <a:cs typeface="Avenir"/>
                <a:sym typeface="Avenir"/>
              </a:defRPr>
            </a:lvl6pPr>
            <a:lvl7pPr indent="0" lvl="6" marL="0" marR="0" rtl="0" algn="r">
              <a:spcBef>
                <a:spcPts val="0"/>
              </a:spcBef>
              <a:buNone/>
              <a:defRPr b="0" i="0" sz="1200" u="none" cap="none" strike="noStrike">
                <a:solidFill>
                  <a:srgbClr val="888888"/>
                </a:solidFill>
                <a:latin typeface="Avenir"/>
                <a:ea typeface="Avenir"/>
                <a:cs typeface="Avenir"/>
                <a:sym typeface="Avenir"/>
              </a:defRPr>
            </a:lvl7pPr>
            <a:lvl8pPr indent="0" lvl="7" marL="0" marR="0" rtl="0" algn="r">
              <a:spcBef>
                <a:spcPts val="0"/>
              </a:spcBef>
              <a:buNone/>
              <a:defRPr b="0" i="0" sz="1200" u="none" cap="none" strike="noStrike">
                <a:solidFill>
                  <a:srgbClr val="888888"/>
                </a:solidFill>
                <a:latin typeface="Avenir"/>
                <a:ea typeface="Avenir"/>
                <a:cs typeface="Avenir"/>
                <a:sym typeface="Avenir"/>
              </a:defRPr>
            </a:lvl8pPr>
            <a:lvl9pPr indent="0" lvl="8" marL="0" marR="0" rtl="0" algn="r">
              <a:spcBef>
                <a:spcPts val="0"/>
              </a:spcBef>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9.jpg"/><Relationship Id="rId7"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1.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33.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3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 name="Shape 110"/>
        <p:cNvGrpSpPr/>
        <p:nvPr/>
      </p:nvGrpSpPr>
      <p:grpSpPr>
        <a:xfrm>
          <a:off x="0" y="0"/>
          <a:ext cx="0" cy="0"/>
          <a:chOff x="0" y="0"/>
          <a:chExt cx="0" cy="0"/>
        </a:xfrm>
      </p:grpSpPr>
      <p:sp>
        <p:nvSpPr>
          <p:cNvPr id="111" name="Google Shape;111;p13"/>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12" name="Google Shape;112;p13"/>
          <p:cNvSpPr txBox="1"/>
          <p:nvPr>
            <p:ph type="ctrTitle"/>
          </p:nvPr>
        </p:nvSpPr>
        <p:spPr>
          <a:xfrm>
            <a:off x="970908" y="1220919"/>
            <a:ext cx="5425781" cy="23876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DD7E0E"/>
              </a:buClr>
              <a:buSzPts val="6000"/>
              <a:buFont typeface="Twentieth Century"/>
              <a:buNone/>
            </a:pPr>
            <a:r>
              <a:rPr lang="en-US">
                <a:solidFill>
                  <a:srgbClr val="DD7E0E"/>
                </a:solidFill>
              </a:rPr>
              <a:t>Domain Driven Design </a:t>
            </a:r>
            <a:endParaRPr/>
          </a:p>
        </p:txBody>
      </p:sp>
      <p:sp>
        <p:nvSpPr>
          <p:cNvPr id="113" name="Google Shape;113;p13"/>
          <p:cNvSpPr txBox="1"/>
          <p:nvPr>
            <p:ph idx="1" type="subTitle"/>
          </p:nvPr>
        </p:nvSpPr>
        <p:spPr>
          <a:xfrm>
            <a:off x="970908" y="3700594"/>
            <a:ext cx="5425781" cy="16557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Mert Alptekin</a:t>
            </a:r>
            <a:endParaRPr/>
          </a:p>
          <a:p>
            <a:pPr indent="0" lvl="0" marL="0" rtl="0" algn="l">
              <a:lnSpc>
                <a:spcPct val="90000"/>
              </a:lnSpc>
              <a:spcBef>
                <a:spcPts val="1000"/>
              </a:spcBef>
              <a:spcAft>
                <a:spcPts val="0"/>
              </a:spcAft>
              <a:buClr>
                <a:schemeClr val="dk1"/>
              </a:buClr>
              <a:buSzPts val="2400"/>
              <a:buNone/>
            </a:pPr>
            <a:r>
              <a:rPr b="1" lang="en-US"/>
              <a:t>Software Consultant</a:t>
            </a:r>
            <a:endParaRPr/>
          </a:p>
        </p:txBody>
      </p:sp>
      <p:sp>
        <p:nvSpPr>
          <p:cNvPr id="114" name="Google Shape;114;p13"/>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15" name="Google Shape;115;p13"/>
          <p:cNvSpPr/>
          <p:nvPr/>
        </p:nvSpPr>
        <p:spPr>
          <a:xfrm>
            <a:off x="6821310" y="2624479"/>
            <a:ext cx="812427" cy="812427"/>
          </a:xfrm>
          <a:prstGeom prst="ellipse">
            <a:avLst/>
          </a:prstGeom>
          <a:noFill/>
          <a:ln cap="flat" cmpd="sng" w="1270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116" name="Google Shape;116;p13"/>
          <p:cNvSpPr/>
          <p:nvPr/>
        </p:nvSpPr>
        <p:spPr>
          <a:xfrm rot="-5400000">
            <a:off x="8912417" y="1202394"/>
            <a:ext cx="2387600" cy="2387600"/>
          </a:xfrm>
          <a:prstGeom prst="blockArc">
            <a:avLst>
              <a:gd fmla="val 10800000" name="adj1"/>
              <a:gd fmla="val 0" name="adj2"/>
              <a:gd fmla="val 25000" name="adj3"/>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17" name="Google Shape;117;p13"/>
          <p:cNvSpPr/>
          <p:nvPr/>
        </p:nvSpPr>
        <p:spPr>
          <a:xfrm>
            <a:off x="6821310" y="0"/>
            <a:ext cx="2315251" cy="1550992"/>
          </a:xfrm>
          <a:custGeom>
            <a:rect b="b" l="l" r="r" t="t"/>
            <a:pathLst>
              <a:path extrusionOk="0" h="1550992" w="2315251">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cxnSp>
        <p:nvCxnSpPr>
          <p:cNvPr id="118" name="Google Shape;118;p13"/>
          <p:cNvCxnSpPr/>
          <p:nvPr/>
        </p:nvCxnSpPr>
        <p:spPr>
          <a:xfrm>
            <a:off x="11724638" y="1331572"/>
            <a:ext cx="0" cy="1597708"/>
          </a:xfrm>
          <a:prstGeom prst="straightConnector1">
            <a:avLst/>
          </a:prstGeom>
          <a:noFill/>
          <a:ln cap="rnd" cmpd="sng" w="127000">
            <a:solidFill>
              <a:schemeClr val="accent4"/>
            </a:solidFill>
            <a:prstDash val="dash"/>
            <a:miter lim="800000"/>
            <a:headEnd len="sm" w="sm" type="none"/>
            <a:tailEnd len="sm" w="sm" type="none"/>
          </a:ln>
        </p:spPr>
      </p:cxnSp>
      <p:sp>
        <p:nvSpPr>
          <p:cNvPr id="119" name="Google Shape;119;p13"/>
          <p:cNvSpPr/>
          <p:nvPr/>
        </p:nvSpPr>
        <p:spPr>
          <a:xfrm>
            <a:off x="11005550" y="4112081"/>
            <a:ext cx="1186451" cy="1771650"/>
          </a:xfrm>
          <a:custGeom>
            <a:rect b="b" l="l" r="r" t="t"/>
            <a:pathLst>
              <a:path extrusionOk="0" h="1771650" w="1186451">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20" name="Google Shape;120;p13"/>
          <p:cNvSpPr/>
          <p:nvPr/>
        </p:nvSpPr>
        <p:spPr>
          <a:xfrm rot="-607105">
            <a:off x="6086940" y="4145122"/>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21" name="Google Shape;121;p13"/>
          <p:cNvSpPr/>
          <p:nvPr/>
        </p:nvSpPr>
        <p:spPr>
          <a:xfrm>
            <a:off x="6821310" y="4962670"/>
            <a:ext cx="2643352" cy="1895331"/>
          </a:xfrm>
          <a:custGeom>
            <a:rect b="b" l="l" r="r" t="t"/>
            <a:pathLst>
              <a:path extrusionOk="0" h="1895331" w="2643352">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b="0" i="0" lang="en-US" sz="3200" u="none" cap="none" strike="noStrike">
                <a:solidFill>
                  <a:srgbClr val="DD7E0E"/>
                </a:solidFill>
                <a:latin typeface="Twentieth Century"/>
                <a:ea typeface="Twentieth Century"/>
                <a:cs typeface="Twentieth Century"/>
                <a:sym typeface="Twentieth Century"/>
              </a:rPr>
              <a:t>Eğitim</a:t>
            </a:r>
            <a:r>
              <a:rPr b="0" i="0" lang="en-US" sz="3200" u="none" cap="none" strike="noStrike">
                <a:solidFill>
                  <a:srgbClr val="000000"/>
                </a:solidFill>
                <a:latin typeface="Twentieth Century"/>
                <a:ea typeface="Twentieth Century"/>
                <a:cs typeface="Twentieth Century"/>
                <a:sym typeface="Twentieth Century"/>
              </a:rPr>
              <a:t> </a:t>
            </a:r>
            <a:r>
              <a:rPr b="0" i="0" lang="en-US" sz="3200" u="none" cap="none" strike="noStrike">
                <a:solidFill>
                  <a:srgbClr val="DD7E0E"/>
                </a:solidFill>
                <a:latin typeface="Twentieth Century"/>
                <a:ea typeface="Twentieth Century"/>
                <a:cs typeface="Twentieth Century"/>
                <a:sym typeface="Twentieth Century"/>
              </a:rPr>
              <a:t>Kataloğu</a:t>
            </a:r>
            <a:r>
              <a:rPr b="0" i="0" lang="en-US" sz="3200" u="none" cap="none" strike="noStrike">
                <a:solidFill>
                  <a:srgbClr val="000000"/>
                </a:solidFill>
                <a:latin typeface="Twentieth Century"/>
                <a:ea typeface="Twentieth Century"/>
                <a:cs typeface="Twentieth Century"/>
                <a:sym typeface="Twentieth Century"/>
              </a:rPr>
              <a:t>	</a:t>
            </a:r>
            <a:endParaRPr/>
          </a:p>
        </p:txBody>
      </p:sp>
      <p:sp>
        <p:nvSpPr>
          <p:cNvPr id="128" name="Google Shape;128;p14"/>
          <p:cNvSpPr txBox="1"/>
          <p:nvPr>
            <p:ph idx="1" type="body"/>
          </p:nvPr>
        </p:nvSpPr>
        <p:spPr>
          <a:xfrm>
            <a:off x="838200" y="1367161"/>
            <a:ext cx="10738282" cy="5125714"/>
          </a:xfrm>
          <a:prstGeom prst="rect">
            <a:avLst/>
          </a:prstGeom>
          <a:noFill/>
          <a:ln>
            <a:noFill/>
          </a:ln>
        </p:spPr>
        <p:txBody>
          <a:bodyPr anchorCtr="0" anchor="t" bIns="45700" lIns="91425" spcFirstLastPara="1" rIns="91425" wrap="square" tIns="45700">
            <a:normAutofit lnSpcReduction="10000"/>
          </a:bodyPr>
          <a:lstStyle/>
          <a:p>
            <a:pPr indent="0" lvl="0" marL="228600" rtl="0" algn="l">
              <a:lnSpc>
                <a:spcPct val="90000"/>
              </a:lnSpc>
              <a:spcBef>
                <a:spcPts val="0"/>
              </a:spcBef>
              <a:spcAft>
                <a:spcPts val="0"/>
              </a:spcAft>
              <a:buNone/>
            </a:pPr>
            <a:r>
              <a:rPr b="1" lang="en-US" sz="2000"/>
              <a:t>Domain Driven Design (Modal Güdümlü Programlama)</a:t>
            </a:r>
            <a:endParaRPr/>
          </a:p>
          <a:p>
            <a:pPr indent="0" lvl="1" marL="457200" rtl="0" algn="l">
              <a:lnSpc>
                <a:spcPct val="90000"/>
              </a:lnSpc>
              <a:spcBef>
                <a:spcPts val="500"/>
              </a:spcBef>
              <a:spcAft>
                <a:spcPts val="0"/>
              </a:spcAft>
              <a:buClr>
                <a:schemeClr val="dk1"/>
              </a:buClr>
              <a:buSzPts val="2000"/>
              <a:buNone/>
            </a:pPr>
            <a:r>
              <a:t/>
            </a:r>
            <a:endParaRPr sz="2000"/>
          </a:p>
          <a:p>
            <a:pPr indent="0" lvl="1" marL="457200" rtl="0" algn="l">
              <a:lnSpc>
                <a:spcPct val="90000"/>
              </a:lnSpc>
              <a:spcBef>
                <a:spcPts val="500"/>
              </a:spcBef>
              <a:spcAft>
                <a:spcPts val="0"/>
              </a:spcAft>
              <a:buClr>
                <a:schemeClr val="dk1"/>
              </a:buClr>
              <a:buSzPts val="2000"/>
              <a:buNone/>
            </a:pPr>
            <a:r>
              <a:t/>
            </a:r>
            <a:endParaRPr sz="2000"/>
          </a:p>
          <a:p>
            <a:pPr indent="0" lvl="1" marL="457200" rtl="0" algn="l">
              <a:lnSpc>
                <a:spcPct val="90000"/>
              </a:lnSpc>
              <a:spcBef>
                <a:spcPts val="500"/>
              </a:spcBef>
              <a:spcAft>
                <a:spcPts val="0"/>
              </a:spcAft>
              <a:buClr>
                <a:schemeClr val="dk1"/>
              </a:buClr>
              <a:buSzPts val="2000"/>
              <a:buNone/>
            </a:pPr>
            <a:r>
              <a:rPr lang="en-US" sz="2000"/>
              <a:t>Strategic Domain Driven Design</a:t>
            </a:r>
            <a:endParaRPr/>
          </a:p>
          <a:p>
            <a:pPr indent="-215900" lvl="2" marL="1143000" rtl="0" algn="l">
              <a:spcBef>
                <a:spcPts val="500"/>
              </a:spcBef>
              <a:spcAft>
                <a:spcPts val="0"/>
              </a:spcAft>
              <a:buSzPts val="1600"/>
              <a:buChar char="•"/>
            </a:pPr>
            <a:r>
              <a:rPr lang="en-US" sz="1600"/>
              <a:t>Event Storming</a:t>
            </a:r>
            <a:endParaRPr sz="1600"/>
          </a:p>
          <a:p>
            <a:pPr indent="-228600" lvl="2" marL="1143000" rtl="0" algn="l">
              <a:lnSpc>
                <a:spcPct val="90000"/>
              </a:lnSpc>
              <a:spcBef>
                <a:spcPts val="500"/>
              </a:spcBef>
              <a:spcAft>
                <a:spcPts val="0"/>
              </a:spcAft>
              <a:buClr>
                <a:schemeClr val="dk1"/>
              </a:buClr>
              <a:buSzPts val="1600"/>
              <a:buChar char="•"/>
            </a:pPr>
            <a:r>
              <a:rPr lang="en-US" sz="1600"/>
              <a:t>Ubiqitous Language</a:t>
            </a:r>
            <a:endParaRPr sz="1600"/>
          </a:p>
          <a:p>
            <a:pPr indent="-228600" lvl="2" marL="1143000" rtl="0" algn="l">
              <a:lnSpc>
                <a:spcPct val="90000"/>
              </a:lnSpc>
              <a:spcBef>
                <a:spcPts val="500"/>
              </a:spcBef>
              <a:spcAft>
                <a:spcPts val="0"/>
              </a:spcAft>
              <a:buClr>
                <a:schemeClr val="dk1"/>
              </a:buClr>
              <a:buSzPts val="1600"/>
              <a:buChar char="•"/>
            </a:pPr>
            <a:r>
              <a:rPr lang="en-US" sz="1600"/>
              <a:t>DDD Roles</a:t>
            </a:r>
            <a:endParaRPr/>
          </a:p>
          <a:p>
            <a:pPr indent="-228600" lvl="2" marL="1143000" rtl="0" algn="l">
              <a:lnSpc>
                <a:spcPct val="90000"/>
              </a:lnSpc>
              <a:spcBef>
                <a:spcPts val="500"/>
              </a:spcBef>
              <a:spcAft>
                <a:spcPts val="0"/>
              </a:spcAft>
              <a:buClr>
                <a:schemeClr val="dk1"/>
              </a:buClr>
              <a:buSzPts val="1600"/>
              <a:buChar char="•"/>
            </a:pPr>
            <a:r>
              <a:rPr lang="en-US" sz="1600"/>
              <a:t>Domain (Core, Support, Generic)</a:t>
            </a:r>
            <a:endParaRPr/>
          </a:p>
          <a:p>
            <a:pPr indent="-228600" lvl="2" marL="1143000" rtl="0" algn="l">
              <a:lnSpc>
                <a:spcPct val="90000"/>
              </a:lnSpc>
              <a:spcBef>
                <a:spcPts val="500"/>
              </a:spcBef>
              <a:spcAft>
                <a:spcPts val="0"/>
              </a:spcAft>
              <a:buClr>
                <a:schemeClr val="dk1"/>
              </a:buClr>
              <a:buSzPts val="1600"/>
              <a:buChar char="•"/>
            </a:pPr>
            <a:r>
              <a:rPr lang="en-US" sz="1600"/>
              <a:t>Bounded Context</a:t>
            </a:r>
            <a:endParaRPr/>
          </a:p>
          <a:p>
            <a:pPr indent="-228600" lvl="2" marL="1143000" rtl="0" algn="l">
              <a:lnSpc>
                <a:spcPct val="90000"/>
              </a:lnSpc>
              <a:spcBef>
                <a:spcPts val="500"/>
              </a:spcBef>
              <a:spcAft>
                <a:spcPts val="0"/>
              </a:spcAft>
              <a:buClr>
                <a:schemeClr val="dk1"/>
              </a:buClr>
              <a:buSzPts val="1600"/>
              <a:buChar char="•"/>
            </a:pPr>
            <a:r>
              <a:rPr lang="en-US" sz="1600"/>
              <a:t>Countext Mapping</a:t>
            </a:r>
            <a:endParaRPr/>
          </a:p>
          <a:p>
            <a:pPr indent="0" lvl="2" marL="914400" rtl="0" algn="l">
              <a:lnSpc>
                <a:spcPct val="90000"/>
              </a:lnSpc>
              <a:spcBef>
                <a:spcPts val="500"/>
              </a:spcBef>
              <a:spcAft>
                <a:spcPts val="0"/>
              </a:spcAft>
              <a:buClr>
                <a:schemeClr val="dk1"/>
              </a:buClr>
              <a:buSzPts val="1600"/>
              <a:buNone/>
            </a:pPr>
            <a:r>
              <a:t/>
            </a:r>
            <a:endParaRPr sz="1600"/>
          </a:p>
          <a:p>
            <a:pPr indent="-101600" lvl="1" marL="685800" rtl="0" algn="l">
              <a:lnSpc>
                <a:spcPct val="90000"/>
              </a:lnSpc>
              <a:spcBef>
                <a:spcPts val="500"/>
              </a:spcBef>
              <a:spcAft>
                <a:spcPts val="0"/>
              </a:spcAft>
              <a:buClr>
                <a:schemeClr val="dk1"/>
              </a:buClr>
              <a:buSzPts val="2000"/>
              <a:buNone/>
            </a:pPr>
            <a:r>
              <a:t/>
            </a:r>
            <a:endParaRPr sz="2000">
              <a:solidFill>
                <a:srgbClr val="FF0000"/>
              </a:solidFill>
            </a:endParaRPr>
          </a:p>
          <a:p>
            <a:pPr indent="-101600" lvl="0" marL="228600" rtl="0" algn="l">
              <a:lnSpc>
                <a:spcPct val="90000"/>
              </a:lnSpc>
              <a:spcBef>
                <a:spcPts val="1000"/>
              </a:spcBef>
              <a:spcAft>
                <a:spcPts val="0"/>
              </a:spcAft>
              <a:buClr>
                <a:schemeClr val="dk1"/>
              </a:buClr>
              <a:buSzPts val="2000"/>
              <a:buNone/>
            </a:pPr>
            <a:r>
              <a:t/>
            </a:r>
            <a:endParaRPr b="1" sz="2000"/>
          </a:p>
          <a:p>
            <a:pPr indent="-101600" lvl="1" marL="685800" rtl="0" algn="l">
              <a:lnSpc>
                <a:spcPct val="90000"/>
              </a:lnSpc>
              <a:spcBef>
                <a:spcPts val="500"/>
              </a:spcBef>
              <a:spcAft>
                <a:spcPts val="0"/>
              </a:spcAft>
              <a:buClr>
                <a:schemeClr val="dk1"/>
              </a:buClr>
              <a:buSzPts val="2000"/>
              <a:buNone/>
            </a:pPr>
            <a:r>
              <a:t/>
            </a:r>
            <a:endParaRPr sz="2000">
              <a:solidFill>
                <a:srgbClr val="FF0000"/>
              </a:solidFill>
            </a:endParaRPr>
          </a:p>
          <a:p>
            <a:pPr indent="-101600" lvl="1" marL="685800" rtl="0" algn="l">
              <a:lnSpc>
                <a:spcPct val="90000"/>
              </a:lnSpc>
              <a:spcBef>
                <a:spcPts val="500"/>
              </a:spcBef>
              <a:spcAft>
                <a:spcPts val="0"/>
              </a:spcAft>
              <a:buClr>
                <a:schemeClr val="dk1"/>
              </a:buClr>
              <a:buSzPts val="2000"/>
              <a:buNone/>
            </a:pPr>
            <a:r>
              <a:t/>
            </a:r>
            <a:endParaRPr sz="2000">
              <a:solidFill>
                <a:srgbClr val="FF0000"/>
              </a:solidFill>
            </a:endParaRPr>
          </a:p>
          <a:p>
            <a:pPr indent="0" lvl="0" marL="0" rtl="0" algn="l">
              <a:lnSpc>
                <a:spcPct val="90000"/>
              </a:lnSpc>
              <a:spcBef>
                <a:spcPts val="1000"/>
              </a:spcBef>
              <a:spcAft>
                <a:spcPts val="0"/>
              </a:spcAft>
              <a:buClr>
                <a:schemeClr val="dk1"/>
              </a:buClr>
              <a:buSzPts val="2000"/>
              <a:buNone/>
            </a:pPr>
            <a:r>
              <a:t/>
            </a:r>
            <a:endParaRPr sz="2000"/>
          </a:p>
        </p:txBody>
      </p:sp>
      <p:pic>
        <p:nvPicPr>
          <p:cNvPr id="129" name="Google Shape;129;p14"/>
          <p:cNvPicPr preferRelativeResize="0"/>
          <p:nvPr/>
        </p:nvPicPr>
        <p:blipFill>
          <a:blip r:embed="rId3">
            <a:alphaModFix/>
          </a:blip>
          <a:stretch>
            <a:fillRect/>
          </a:stretch>
        </p:blipFill>
        <p:spPr>
          <a:xfrm>
            <a:off x="5706625" y="2090049"/>
            <a:ext cx="5647177" cy="2839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b="0" i="0" lang="en-US" sz="3200" u="none" cap="none" strike="noStrike">
                <a:solidFill>
                  <a:srgbClr val="DD7E0E"/>
                </a:solidFill>
                <a:latin typeface="Twentieth Century"/>
                <a:ea typeface="Twentieth Century"/>
                <a:cs typeface="Twentieth Century"/>
                <a:sym typeface="Twentieth Century"/>
              </a:rPr>
              <a:t>Eğitim</a:t>
            </a:r>
            <a:r>
              <a:rPr b="0" i="0" lang="en-US" sz="3200" u="none" cap="none" strike="noStrike">
                <a:solidFill>
                  <a:srgbClr val="000000"/>
                </a:solidFill>
                <a:latin typeface="Twentieth Century"/>
                <a:ea typeface="Twentieth Century"/>
                <a:cs typeface="Twentieth Century"/>
                <a:sym typeface="Twentieth Century"/>
              </a:rPr>
              <a:t> </a:t>
            </a:r>
            <a:r>
              <a:rPr b="0" i="0" lang="en-US" sz="3200" u="none" cap="none" strike="noStrike">
                <a:solidFill>
                  <a:srgbClr val="DD7E0E"/>
                </a:solidFill>
                <a:latin typeface="Twentieth Century"/>
                <a:ea typeface="Twentieth Century"/>
                <a:cs typeface="Twentieth Century"/>
                <a:sym typeface="Twentieth Century"/>
              </a:rPr>
              <a:t>Kataloğu</a:t>
            </a:r>
            <a:r>
              <a:rPr b="0" i="0" lang="en-US" sz="3200" u="none" cap="none" strike="noStrike">
                <a:solidFill>
                  <a:srgbClr val="000000"/>
                </a:solidFill>
                <a:latin typeface="Twentieth Century"/>
                <a:ea typeface="Twentieth Century"/>
                <a:cs typeface="Twentieth Century"/>
                <a:sym typeface="Twentieth Century"/>
              </a:rPr>
              <a:t>	</a:t>
            </a:r>
            <a:endParaRPr/>
          </a:p>
        </p:txBody>
      </p:sp>
      <p:sp>
        <p:nvSpPr>
          <p:cNvPr id="136" name="Google Shape;136;p15"/>
          <p:cNvSpPr txBox="1"/>
          <p:nvPr>
            <p:ph idx="1" type="body"/>
          </p:nvPr>
        </p:nvSpPr>
        <p:spPr>
          <a:xfrm>
            <a:off x="838200" y="1367161"/>
            <a:ext cx="10738200" cy="51258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None/>
            </a:pPr>
            <a:r>
              <a:rPr b="1" lang="en-US" sz="2000"/>
              <a:t>Domain Driven Design (Modal Güdümlü Programlama)</a:t>
            </a:r>
            <a:endParaRPr/>
          </a:p>
          <a:p>
            <a:pPr indent="0" lvl="1" marL="457200" rtl="0" algn="l">
              <a:lnSpc>
                <a:spcPct val="90000"/>
              </a:lnSpc>
              <a:spcBef>
                <a:spcPts val="500"/>
              </a:spcBef>
              <a:spcAft>
                <a:spcPts val="0"/>
              </a:spcAft>
              <a:buClr>
                <a:schemeClr val="dk1"/>
              </a:buClr>
              <a:buSzPct val="100000"/>
              <a:buNone/>
            </a:pPr>
            <a:r>
              <a:t/>
            </a:r>
            <a:endParaRPr sz="2000"/>
          </a:p>
          <a:p>
            <a:pPr indent="0" lvl="1" marL="457200" rtl="0" algn="l">
              <a:lnSpc>
                <a:spcPct val="90000"/>
              </a:lnSpc>
              <a:spcBef>
                <a:spcPts val="500"/>
              </a:spcBef>
              <a:spcAft>
                <a:spcPts val="0"/>
              </a:spcAft>
              <a:buClr>
                <a:schemeClr val="dk1"/>
              </a:buClr>
              <a:buSzPct val="100000"/>
              <a:buNone/>
            </a:pPr>
            <a:r>
              <a:t/>
            </a:r>
            <a:endParaRPr sz="2000"/>
          </a:p>
          <a:p>
            <a:pPr indent="0" lvl="0" marL="457200" rtl="0" algn="l">
              <a:spcBef>
                <a:spcPts val="500"/>
              </a:spcBef>
              <a:spcAft>
                <a:spcPts val="0"/>
              </a:spcAft>
              <a:buNone/>
            </a:pPr>
            <a:r>
              <a:rPr lang="en-US" sz="2000"/>
              <a:t>Tactical Domain Driven Desing</a:t>
            </a:r>
            <a:endParaRPr sz="2400"/>
          </a:p>
          <a:p>
            <a:pPr indent="-208280" lvl="2" marL="1143000" rtl="0" algn="l">
              <a:spcBef>
                <a:spcPts val="500"/>
              </a:spcBef>
              <a:spcAft>
                <a:spcPts val="0"/>
              </a:spcAft>
              <a:buSzPct val="100000"/>
              <a:buChar char="•"/>
            </a:pPr>
            <a:r>
              <a:rPr lang="en-US" sz="1600"/>
              <a:t>Entity</a:t>
            </a:r>
            <a:endParaRPr/>
          </a:p>
          <a:p>
            <a:pPr indent="-208280" lvl="2" marL="1143000" rtl="0" algn="l">
              <a:spcBef>
                <a:spcPts val="500"/>
              </a:spcBef>
              <a:spcAft>
                <a:spcPts val="0"/>
              </a:spcAft>
              <a:buSzPct val="100000"/>
              <a:buChar char="•"/>
            </a:pPr>
            <a:r>
              <a:rPr lang="en-US" sz="1600"/>
              <a:t>Value Object</a:t>
            </a:r>
            <a:endParaRPr/>
          </a:p>
          <a:p>
            <a:pPr indent="-208280" lvl="2" marL="1143000" rtl="0" algn="l">
              <a:spcBef>
                <a:spcPts val="500"/>
              </a:spcBef>
              <a:spcAft>
                <a:spcPts val="0"/>
              </a:spcAft>
              <a:buSzPct val="100000"/>
              <a:buChar char="•"/>
            </a:pPr>
            <a:r>
              <a:rPr lang="en-US" sz="1600"/>
              <a:t>Aggregate Root</a:t>
            </a:r>
            <a:endParaRPr/>
          </a:p>
          <a:p>
            <a:pPr indent="-208280" lvl="2" marL="1143000" rtl="0" algn="l">
              <a:spcBef>
                <a:spcPts val="500"/>
              </a:spcBef>
              <a:spcAft>
                <a:spcPts val="0"/>
              </a:spcAft>
              <a:buSzPct val="100000"/>
              <a:buChar char="•"/>
            </a:pPr>
            <a:r>
              <a:rPr lang="en-US" sz="1600"/>
              <a:t>Factories</a:t>
            </a:r>
            <a:endParaRPr/>
          </a:p>
          <a:p>
            <a:pPr indent="-208280" lvl="2" marL="1143000" rtl="0" algn="l">
              <a:spcBef>
                <a:spcPts val="500"/>
              </a:spcBef>
              <a:spcAft>
                <a:spcPts val="0"/>
              </a:spcAft>
              <a:buSzPct val="100000"/>
              <a:buChar char="•"/>
            </a:pPr>
            <a:r>
              <a:rPr lang="en-US" sz="1600"/>
              <a:t>Repositories</a:t>
            </a:r>
            <a:endParaRPr/>
          </a:p>
          <a:p>
            <a:pPr indent="-208280" lvl="2" marL="1143000" rtl="0" algn="l">
              <a:spcBef>
                <a:spcPts val="500"/>
              </a:spcBef>
              <a:spcAft>
                <a:spcPts val="0"/>
              </a:spcAft>
              <a:buSzPct val="100000"/>
              <a:buChar char="•"/>
            </a:pPr>
            <a:r>
              <a:rPr lang="en-US" sz="1600"/>
              <a:t>Domain Events</a:t>
            </a:r>
            <a:endParaRPr/>
          </a:p>
          <a:p>
            <a:pPr indent="-208280" lvl="2" marL="1143000" rtl="0" algn="l">
              <a:spcBef>
                <a:spcPts val="500"/>
              </a:spcBef>
              <a:spcAft>
                <a:spcPts val="0"/>
              </a:spcAft>
              <a:buSzPct val="100000"/>
              <a:buChar char="•"/>
            </a:pPr>
            <a:r>
              <a:rPr lang="en-US" sz="1600"/>
              <a:t>Domain Services</a:t>
            </a:r>
            <a:endParaRPr/>
          </a:p>
          <a:p>
            <a:pPr indent="-208280" lvl="2" marL="1143000" rtl="0" algn="l">
              <a:spcBef>
                <a:spcPts val="500"/>
              </a:spcBef>
              <a:spcAft>
                <a:spcPts val="0"/>
              </a:spcAft>
              <a:buSzPct val="100000"/>
              <a:buChar char="•"/>
            </a:pPr>
            <a:r>
              <a:rPr lang="en-US" sz="1600"/>
              <a:t>Enumarations</a:t>
            </a:r>
            <a:endParaRPr/>
          </a:p>
          <a:p>
            <a:pPr indent="0" lvl="2" marL="914400" rtl="0" algn="l">
              <a:lnSpc>
                <a:spcPct val="90000"/>
              </a:lnSpc>
              <a:spcBef>
                <a:spcPts val="500"/>
              </a:spcBef>
              <a:spcAft>
                <a:spcPts val="0"/>
              </a:spcAft>
              <a:buClr>
                <a:schemeClr val="dk1"/>
              </a:buClr>
              <a:buSzPct val="100000"/>
              <a:buNone/>
            </a:pPr>
            <a:r>
              <a:t/>
            </a:r>
            <a:endParaRPr sz="1600"/>
          </a:p>
          <a:p>
            <a:pPr indent="-101600" lvl="1" marL="685800" rtl="0" algn="l">
              <a:lnSpc>
                <a:spcPct val="90000"/>
              </a:lnSpc>
              <a:spcBef>
                <a:spcPts val="500"/>
              </a:spcBef>
              <a:spcAft>
                <a:spcPts val="0"/>
              </a:spcAft>
              <a:buClr>
                <a:schemeClr val="dk1"/>
              </a:buClr>
              <a:buSzPct val="100000"/>
              <a:buNone/>
            </a:pPr>
            <a:r>
              <a:t/>
            </a:r>
            <a:endParaRPr sz="2000">
              <a:solidFill>
                <a:srgbClr val="FF0000"/>
              </a:solidFill>
            </a:endParaRPr>
          </a:p>
          <a:p>
            <a:pPr indent="-101600" lvl="0" marL="228600" rtl="0" algn="l">
              <a:lnSpc>
                <a:spcPct val="90000"/>
              </a:lnSpc>
              <a:spcBef>
                <a:spcPts val="1000"/>
              </a:spcBef>
              <a:spcAft>
                <a:spcPts val="0"/>
              </a:spcAft>
              <a:buClr>
                <a:schemeClr val="dk1"/>
              </a:buClr>
              <a:buSzPct val="100000"/>
              <a:buNone/>
            </a:pPr>
            <a:r>
              <a:t/>
            </a:r>
            <a:endParaRPr b="1" sz="2000"/>
          </a:p>
          <a:p>
            <a:pPr indent="-101600" lvl="1" marL="685800" rtl="0" algn="l">
              <a:lnSpc>
                <a:spcPct val="90000"/>
              </a:lnSpc>
              <a:spcBef>
                <a:spcPts val="500"/>
              </a:spcBef>
              <a:spcAft>
                <a:spcPts val="0"/>
              </a:spcAft>
              <a:buClr>
                <a:schemeClr val="dk1"/>
              </a:buClr>
              <a:buSzPct val="100000"/>
              <a:buNone/>
            </a:pPr>
            <a:r>
              <a:t/>
            </a:r>
            <a:endParaRPr sz="2000">
              <a:solidFill>
                <a:srgbClr val="FF0000"/>
              </a:solidFill>
            </a:endParaRPr>
          </a:p>
          <a:p>
            <a:pPr indent="-101600" lvl="1" marL="685800" rtl="0" algn="l">
              <a:lnSpc>
                <a:spcPct val="90000"/>
              </a:lnSpc>
              <a:spcBef>
                <a:spcPts val="500"/>
              </a:spcBef>
              <a:spcAft>
                <a:spcPts val="0"/>
              </a:spcAft>
              <a:buClr>
                <a:schemeClr val="dk1"/>
              </a:buClr>
              <a:buSzPct val="100000"/>
              <a:buNone/>
            </a:pPr>
            <a:r>
              <a:t/>
            </a:r>
            <a:endParaRPr sz="2000">
              <a:solidFill>
                <a:srgbClr val="FF0000"/>
              </a:solidFill>
            </a:endParaRPr>
          </a:p>
          <a:p>
            <a:pPr indent="0" lvl="0" marL="0" rtl="0" algn="l">
              <a:lnSpc>
                <a:spcPct val="90000"/>
              </a:lnSpc>
              <a:spcBef>
                <a:spcPts val="1000"/>
              </a:spcBef>
              <a:spcAft>
                <a:spcPts val="0"/>
              </a:spcAft>
              <a:buClr>
                <a:schemeClr val="dk1"/>
              </a:buClr>
              <a:buSzPct val="100000"/>
              <a:buNone/>
            </a:pPr>
            <a:r>
              <a:t/>
            </a:r>
            <a:endParaRPr sz="2000"/>
          </a:p>
        </p:txBody>
      </p:sp>
      <p:pic>
        <p:nvPicPr>
          <p:cNvPr id="137" name="Google Shape;137;p15"/>
          <p:cNvPicPr preferRelativeResize="0"/>
          <p:nvPr/>
        </p:nvPicPr>
        <p:blipFill>
          <a:blip r:embed="rId3">
            <a:alphaModFix/>
          </a:blip>
          <a:stretch>
            <a:fillRect/>
          </a:stretch>
        </p:blipFill>
        <p:spPr>
          <a:xfrm>
            <a:off x="5407280" y="2012905"/>
            <a:ext cx="6009825" cy="305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b="0" i="0" lang="en-US" sz="3200" u="none" cap="none" strike="noStrike">
                <a:solidFill>
                  <a:srgbClr val="DD7E0E"/>
                </a:solidFill>
                <a:latin typeface="Twentieth Century"/>
                <a:ea typeface="Twentieth Century"/>
                <a:cs typeface="Twentieth Century"/>
                <a:sym typeface="Twentieth Century"/>
              </a:rPr>
              <a:t>Eğitim</a:t>
            </a:r>
            <a:r>
              <a:rPr b="0" i="0" lang="en-US" sz="3200" u="none" cap="none" strike="noStrike">
                <a:solidFill>
                  <a:srgbClr val="000000"/>
                </a:solidFill>
                <a:latin typeface="Twentieth Century"/>
                <a:ea typeface="Twentieth Century"/>
                <a:cs typeface="Twentieth Century"/>
                <a:sym typeface="Twentieth Century"/>
              </a:rPr>
              <a:t> </a:t>
            </a:r>
            <a:r>
              <a:rPr b="0" i="0" lang="en-US" sz="3200" u="none" cap="none" strike="noStrike">
                <a:solidFill>
                  <a:srgbClr val="DD7E0E"/>
                </a:solidFill>
                <a:latin typeface="Twentieth Century"/>
                <a:ea typeface="Twentieth Century"/>
                <a:cs typeface="Twentieth Century"/>
                <a:sym typeface="Twentieth Century"/>
              </a:rPr>
              <a:t>Kataloğu</a:t>
            </a:r>
            <a:r>
              <a:rPr b="0" i="0" lang="en-US" sz="3200" u="none" cap="none" strike="noStrike">
                <a:solidFill>
                  <a:srgbClr val="000000"/>
                </a:solidFill>
                <a:latin typeface="Twentieth Century"/>
                <a:ea typeface="Twentieth Century"/>
                <a:cs typeface="Twentieth Century"/>
                <a:sym typeface="Twentieth Century"/>
              </a:rPr>
              <a:t>	</a:t>
            </a:r>
            <a:endParaRPr/>
          </a:p>
        </p:txBody>
      </p:sp>
      <p:sp>
        <p:nvSpPr>
          <p:cNvPr id="144" name="Google Shape;144;p16"/>
          <p:cNvSpPr txBox="1"/>
          <p:nvPr>
            <p:ph idx="1" type="body"/>
          </p:nvPr>
        </p:nvSpPr>
        <p:spPr>
          <a:xfrm>
            <a:off x="838200" y="1367161"/>
            <a:ext cx="10738282" cy="5125714"/>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None/>
            </a:pPr>
            <a:r>
              <a:t/>
            </a:r>
            <a:endParaRPr b="1" sz="2000"/>
          </a:p>
          <a:p>
            <a:pPr indent="0" lvl="0" marL="0" rtl="0" algn="l">
              <a:lnSpc>
                <a:spcPct val="90000"/>
              </a:lnSpc>
              <a:spcBef>
                <a:spcPts val="0"/>
              </a:spcBef>
              <a:spcAft>
                <a:spcPts val="0"/>
              </a:spcAft>
              <a:buClr>
                <a:schemeClr val="dk1"/>
              </a:buClr>
              <a:buSzPct val="100000"/>
              <a:buNone/>
            </a:pPr>
            <a:r>
              <a:rPr b="1" lang="en-US" sz="2000"/>
              <a:t>Hexagonal Architecture</a:t>
            </a:r>
            <a:endParaRPr b="1" sz="2000"/>
          </a:p>
          <a:p>
            <a:pPr indent="0" lvl="0" marL="0" rtl="0" algn="l">
              <a:lnSpc>
                <a:spcPct val="90000"/>
              </a:lnSpc>
              <a:spcBef>
                <a:spcPts val="0"/>
              </a:spcBef>
              <a:spcAft>
                <a:spcPts val="0"/>
              </a:spcAft>
              <a:buClr>
                <a:schemeClr val="dk1"/>
              </a:buClr>
              <a:buSzPct val="100000"/>
              <a:buNone/>
            </a:pPr>
            <a:r>
              <a:t/>
            </a:r>
            <a:endParaRPr b="1" sz="2000"/>
          </a:p>
          <a:p>
            <a:pPr indent="-200025" lvl="1" marL="685800" rtl="0" algn="l">
              <a:spcBef>
                <a:spcPts val="500"/>
              </a:spcBef>
              <a:spcAft>
                <a:spcPts val="0"/>
              </a:spcAft>
              <a:buSzPct val="100000"/>
              <a:buChar char="•"/>
            </a:pPr>
            <a:r>
              <a:rPr lang="en-US" sz="2000"/>
              <a:t>Port And Adapters Design</a:t>
            </a:r>
            <a:endParaRPr b="1" sz="2000"/>
          </a:p>
          <a:p>
            <a:pPr indent="0" lvl="0" marL="0" rtl="0" algn="l">
              <a:lnSpc>
                <a:spcPct val="90000"/>
              </a:lnSpc>
              <a:spcBef>
                <a:spcPts val="0"/>
              </a:spcBef>
              <a:spcAft>
                <a:spcPts val="0"/>
              </a:spcAft>
              <a:buClr>
                <a:schemeClr val="dk1"/>
              </a:buClr>
              <a:buSzPct val="100000"/>
              <a:buNone/>
            </a:pPr>
            <a:r>
              <a:rPr b="1" lang="en-US" sz="2000"/>
              <a:t>       </a:t>
            </a:r>
            <a:endParaRPr b="1" sz="2000"/>
          </a:p>
          <a:p>
            <a:pPr indent="0" lvl="0" marL="0" rtl="0" algn="l">
              <a:lnSpc>
                <a:spcPct val="90000"/>
              </a:lnSpc>
              <a:spcBef>
                <a:spcPts val="0"/>
              </a:spcBef>
              <a:spcAft>
                <a:spcPts val="0"/>
              </a:spcAft>
              <a:buClr>
                <a:schemeClr val="dk1"/>
              </a:buClr>
              <a:buSzPct val="100000"/>
              <a:buNone/>
            </a:pPr>
            <a:r>
              <a:t/>
            </a:r>
            <a:endParaRPr b="1" sz="2000"/>
          </a:p>
          <a:p>
            <a:pPr indent="0" lvl="0" marL="0" rtl="0" algn="l">
              <a:lnSpc>
                <a:spcPct val="90000"/>
              </a:lnSpc>
              <a:spcBef>
                <a:spcPts val="0"/>
              </a:spcBef>
              <a:spcAft>
                <a:spcPts val="0"/>
              </a:spcAft>
              <a:buClr>
                <a:schemeClr val="dk1"/>
              </a:buClr>
              <a:buSzPct val="100000"/>
              <a:buNone/>
            </a:pPr>
            <a:r>
              <a:rPr b="1" lang="en-US" sz="2000"/>
              <a:t>Clean Architecture  (Temiz Mimari)</a:t>
            </a:r>
            <a:endParaRPr b="1" sz="2000"/>
          </a:p>
          <a:p>
            <a:pPr indent="0" lvl="0" marL="0" rtl="0" algn="l">
              <a:lnSpc>
                <a:spcPct val="90000"/>
              </a:lnSpc>
              <a:spcBef>
                <a:spcPts val="0"/>
              </a:spcBef>
              <a:spcAft>
                <a:spcPts val="0"/>
              </a:spcAft>
              <a:buClr>
                <a:schemeClr val="dk1"/>
              </a:buClr>
              <a:buSzPct val="100000"/>
              <a:buNone/>
            </a:pPr>
            <a:r>
              <a:t/>
            </a:r>
            <a:endParaRPr b="1" sz="2000"/>
          </a:p>
          <a:p>
            <a:pPr indent="-200025" lvl="1" marL="685800" rtl="0" algn="l">
              <a:lnSpc>
                <a:spcPct val="90000"/>
              </a:lnSpc>
              <a:spcBef>
                <a:spcPts val="500"/>
              </a:spcBef>
              <a:spcAft>
                <a:spcPts val="0"/>
              </a:spcAft>
              <a:buClr>
                <a:schemeClr val="dk1"/>
              </a:buClr>
              <a:buSzPct val="100000"/>
              <a:buChar char="•"/>
            </a:pPr>
            <a:r>
              <a:rPr lang="en-US" sz="2000"/>
              <a:t>Domain Layer</a:t>
            </a:r>
            <a:endParaRPr/>
          </a:p>
          <a:p>
            <a:pPr indent="-200025" lvl="1" marL="685800" rtl="0" algn="l">
              <a:lnSpc>
                <a:spcPct val="90000"/>
              </a:lnSpc>
              <a:spcBef>
                <a:spcPts val="500"/>
              </a:spcBef>
              <a:spcAft>
                <a:spcPts val="0"/>
              </a:spcAft>
              <a:buClr>
                <a:schemeClr val="dk1"/>
              </a:buClr>
              <a:buSzPct val="100000"/>
              <a:buChar char="•"/>
            </a:pPr>
            <a:r>
              <a:rPr lang="en-US" sz="2000"/>
              <a:t>Application Layer</a:t>
            </a:r>
            <a:endParaRPr/>
          </a:p>
          <a:p>
            <a:pPr indent="-200025" lvl="1" marL="685800" rtl="0" algn="l">
              <a:lnSpc>
                <a:spcPct val="90000"/>
              </a:lnSpc>
              <a:spcBef>
                <a:spcPts val="500"/>
              </a:spcBef>
              <a:spcAft>
                <a:spcPts val="0"/>
              </a:spcAft>
              <a:buClr>
                <a:schemeClr val="dk1"/>
              </a:buClr>
              <a:buSzPct val="100000"/>
              <a:buChar char="•"/>
            </a:pPr>
            <a:r>
              <a:rPr lang="en-US" sz="2000"/>
              <a:t>Presentation Layer</a:t>
            </a:r>
            <a:endParaRPr/>
          </a:p>
          <a:p>
            <a:pPr indent="-200025" lvl="1" marL="685800" rtl="0" algn="l">
              <a:lnSpc>
                <a:spcPct val="90000"/>
              </a:lnSpc>
              <a:spcBef>
                <a:spcPts val="500"/>
              </a:spcBef>
              <a:spcAft>
                <a:spcPts val="0"/>
              </a:spcAft>
              <a:buClr>
                <a:schemeClr val="dk1"/>
              </a:buClr>
              <a:buSzPct val="100000"/>
              <a:buChar char="•"/>
            </a:pPr>
            <a:r>
              <a:rPr lang="en-US" sz="2000"/>
              <a:t>Infrastructure Layer</a:t>
            </a:r>
            <a:endParaRPr/>
          </a:p>
          <a:p>
            <a:pPr indent="-127000" lvl="2" marL="1143000" rtl="0" algn="l">
              <a:lnSpc>
                <a:spcPct val="90000"/>
              </a:lnSpc>
              <a:spcBef>
                <a:spcPts val="500"/>
              </a:spcBef>
              <a:spcAft>
                <a:spcPts val="0"/>
              </a:spcAft>
              <a:buClr>
                <a:schemeClr val="dk1"/>
              </a:buClr>
              <a:buSzPct val="100000"/>
              <a:buNone/>
            </a:pPr>
            <a:r>
              <a:t/>
            </a:r>
            <a:endParaRPr sz="1600"/>
          </a:p>
          <a:p>
            <a:pPr indent="0" lvl="0" marL="0" rtl="0" algn="l">
              <a:lnSpc>
                <a:spcPct val="90000"/>
              </a:lnSpc>
              <a:spcBef>
                <a:spcPts val="1000"/>
              </a:spcBef>
              <a:spcAft>
                <a:spcPts val="0"/>
              </a:spcAft>
              <a:buClr>
                <a:schemeClr val="dk1"/>
              </a:buClr>
              <a:buSzPct val="100000"/>
              <a:buNone/>
            </a:pPr>
            <a:r>
              <a:rPr b="1" lang="en-US" sz="2000"/>
              <a:t>CQSR (Command Query </a:t>
            </a:r>
            <a:r>
              <a:rPr b="1" lang="en-US" sz="2000"/>
              <a:t>Segregation</a:t>
            </a:r>
            <a:r>
              <a:rPr b="1" lang="en-US" sz="2000"/>
              <a:t> Principle) Kavramı</a:t>
            </a:r>
            <a:endParaRPr b="1" sz="2000"/>
          </a:p>
          <a:p>
            <a:pPr indent="0" lvl="0" marL="0" rtl="0" algn="l">
              <a:lnSpc>
                <a:spcPct val="90000"/>
              </a:lnSpc>
              <a:spcBef>
                <a:spcPts val="1000"/>
              </a:spcBef>
              <a:spcAft>
                <a:spcPts val="0"/>
              </a:spcAft>
              <a:buClr>
                <a:schemeClr val="dk1"/>
              </a:buClr>
              <a:buSzPct val="100000"/>
              <a:buNone/>
            </a:pPr>
            <a:r>
              <a:t/>
            </a:r>
            <a:endParaRPr b="1" sz="2000"/>
          </a:p>
          <a:p>
            <a:pPr indent="-200025" lvl="1" marL="685800" rtl="0" algn="l">
              <a:lnSpc>
                <a:spcPct val="90000"/>
              </a:lnSpc>
              <a:spcBef>
                <a:spcPts val="500"/>
              </a:spcBef>
              <a:spcAft>
                <a:spcPts val="0"/>
              </a:spcAft>
              <a:buClr>
                <a:schemeClr val="dk1"/>
              </a:buClr>
              <a:buSzPct val="100000"/>
              <a:buChar char="•"/>
            </a:pPr>
            <a:r>
              <a:rPr lang="en-US" sz="2000"/>
              <a:t>Application Layer Tasarımı</a:t>
            </a:r>
            <a:endParaRPr/>
          </a:p>
          <a:p>
            <a:pPr indent="-200025" lvl="1" marL="685800" rtl="0" algn="l">
              <a:lnSpc>
                <a:spcPct val="90000"/>
              </a:lnSpc>
              <a:spcBef>
                <a:spcPts val="500"/>
              </a:spcBef>
              <a:spcAft>
                <a:spcPts val="0"/>
              </a:spcAft>
              <a:buClr>
                <a:schemeClr val="dk1"/>
              </a:buClr>
              <a:buSzPct val="100000"/>
              <a:buChar char="•"/>
            </a:pPr>
            <a:r>
              <a:rPr lang="en-US" sz="2000"/>
              <a:t>Event Sourcing</a:t>
            </a:r>
            <a:endParaRPr/>
          </a:p>
          <a:p>
            <a:pPr indent="-101600" lvl="1" marL="685800" rtl="0" algn="l">
              <a:lnSpc>
                <a:spcPct val="90000"/>
              </a:lnSpc>
              <a:spcBef>
                <a:spcPts val="500"/>
              </a:spcBef>
              <a:spcAft>
                <a:spcPts val="0"/>
              </a:spcAft>
              <a:buClr>
                <a:schemeClr val="dk1"/>
              </a:buClr>
              <a:buSzPct val="100000"/>
              <a:buNone/>
            </a:pPr>
            <a:r>
              <a:t/>
            </a:r>
            <a:endParaRPr sz="2000">
              <a:solidFill>
                <a:srgbClr val="FF0000"/>
              </a:solidFill>
            </a:endParaRPr>
          </a:p>
          <a:p>
            <a:pPr indent="-101600" lvl="0" marL="228600" rtl="0" algn="l">
              <a:lnSpc>
                <a:spcPct val="90000"/>
              </a:lnSpc>
              <a:spcBef>
                <a:spcPts val="1000"/>
              </a:spcBef>
              <a:spcAft>
                <a:spcPts val="0"/>
              </a:spcAft>
              <a:buClr>
                <a:schemeClr val="dk1"/>
              </a:buClr>
              <a:buSzPct val="100000"/>
              <a:buNone/>
            </a:pPr>
            <a:r>
              <a:t/>
            </a:r>
            <a:endParaRPr b="1" sz="2000"/>
          </a:p>
          <a:p>
            <a:pPr indent="-101600" lvl="1" marL="685800" rtl="0" algn="l">
              <a:lnSpc>
                <a:spcPct val="90000"/>
              </a:lnSpc>
              <a:spcBef>
                <a:spcPts val="500"/>
              </a:spcBef>
              <a:spcAft>
                <a:spcPts val="0"/>
              </a:spcAft>
              <a:buClr>
                <a:schemeClr val="dk1"/>
              </a:buClr>
              <a:buSzPct val="100000"/>
              <a:buNone/>
            </a:pPr>
            <a:r>
              <a:t/>
            </a:r>
            <a:endParaRPr sz="2000">
              <a:solidFill>
                <a:srgbClr val="FF0000"/>
              </a:solidFill>
            </a:endParaRPr>
          </a:p>
          <a:p>
            <a:pPr indent="-101600" lvl="1" marL="685800" rtl="0" algn="l">
              <a:lnSpc>
                <a:spcPct val="90000"/>
              </a:lnSpc>
              <a:spcBef>
                <a:spcPts val="500"/>
              </a:spcBef>
              <a:spcAft>
                <a:spcPts val="0"/>
              </a:spcAft>
              <a:buClr>
                <a:schemeClr val="dk1"/>
              </a:buClr>
              <a:buSzPct val="100000"/>
              <a:buNone/>
            </a:pPr>
            <a:r>
              <a:t/>
            </a:r>
            <a:endParaRPr sz="2000">
              <a:solidFill>
                <a:srgbClr val="FF0000"/>
              </a:solidFill>
            </a:endParaRPr>
          </a:p>
          <a:p>
            <a:pPr indent="0" lvl="0" marL="0" rtl="0" algn="l">
              <a:lnSpc>
                <a:spcPct val="90000"/>
              </a:lnSpc>
              <a:spcBef>
                <a:spcPts val="1000"/>
              </a:spcBef>
              <a:spcAft>
                <a:spcPts val="0"/>
              </a:spcAft>
              <a:buClr>
                <a:schemeClr val="dk1"/>
              </a:buClr>
              <a:buSzPct val="100000"/>
              <a:buNone/>
            </a:pPr>
            <a:r>
              <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lang="en-US" sz="3200">
                <a:solidFill>
                  <a:srgbClr val="DD7E0E"/>
                </a:solidFill>
              </a:rPr>
              <a:t>Event Storming ile Domain Modelleme</a:t>
            </a:r>
            <a:endParaRPr/>
          </a:p>
        </p:txBody>
      </p:sp>
      <p:sp>
        <p:nvSpPr>
          <p:cNvPr id="151" name="Google Shape;151;p17"/>
          <p:cNvSpPr txBox="1"/>
          <p:nvPr>
            <p:ph idx="1" type="body"/>
          </p:nvPr>
        </p:nvSpPr>
        <p:spPr>
          <a:xfrm>
            <a:off x="838200" y="1367150"/>
            <a:ext cx="10982100" cy="5125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500"/>
              </a:spcBef>
              <a:spcAft>
                <a:spcPts val="0"/>
              </a:spcAft>
              <a:buNone/>
            </a:pPr>
            <a:r>
              <a:t/>
            </a:r>
            <a:endParaRPr sz="1200">
              <a:solidFill>
                <a:srgbClr val="0D0D0D"/>
              </a:solidFill>
              <a:highlight>
                <a:srgbClr val="FFFFFF"/>
              </a:highlight>
              <a:latin typeface="Roboto"/>
              <a:ea typeface="Roboto"/>
              <a:cs typeface="Roboto"/>
              <a:sym typeface="Roboto"/>
            </a:endParaRPr>
          </a:p>
          <a:p>
            <a:pPr indent="0" lvl="0" marL="0" rtl="0" algn="l">
              <a:lnSpc>
                <a:spcPct val="90000"/>
              </a:lnSpc>
              <a:spcBef>
                <a:spcPts val="500"/>
              </a:spcBef>
              <a:spcAft>
                <a:spcPts val="0"/>
              </a:spcAft>
              <a:buNone/>
            </a:pPr>
            <a:r>
              <a:rPr lang="en-US" sz="1800">
                <a:solidFill>
                  <a:srgbClr val="0D0D0D"/>
                </a:solidFill>
                <a:highlight>
                  <a:srgbClr val="FFFFFF"/>
                </a:highlight>
                <a:latin typeface="Roboto"/>
                <a:ea typeface="Roboto"/>
                <a:cs typeface="Roboto"/>
                <a:sym typeface="Roboto"/>
              </a:rPr>
              <a:t>Karmaşık yazılım projelerinde iş akışlarını, etkinlikleri ve iş süreçlerini modellemek için kullanılan bir işbirliği tekniğidir. </a:t>
            </a:r>
            <a:endParaRPr sz="1800">
              <a:solidFill>
                <a:srgbClr val="0D0D0D"/>
              </a:solidFill>
              <a:highlight>
                <a:srgbClr val="FFFFFF"/>
              </a:highlight>
              <a:latin typeface="Roboto"/>
              <a:ea typeface="Roboto"/>
              <a:cs typeface="Roboto"/>
              <a:sym typeface="Roboto"/>
            </a:endParaRPr>
          </a:p>
          <a:p>
            <a:pPr indent="0" lvl="0" marL="0" rtl="0" algn="l">
              <a:lnSpc>
                <a:spcPct val="90000"/>
              </a:lnSpc>
              <a:spcBef>
                <a:spcPts val="500"/>
              </a:spcBef>
              <a:spcAft>
                <a:spcPts val="0"/>
              </a:spcAft>
              <a:buNone/>
            </a:pPr>
            <a:r>
              <a:t/>
            </a:r>
            <a:endParaRPr sz="1800">
              <a:solidFill>
                <a:srgbClr val="0D0D0D"/>
              </a:solidFill>
              <a:highlight>
                <a:srgbClr val="FFFFFF"/>
              </a:highlight>
              <a:latin typeface="Roboto"/>
              <a:ea typeface="Roboto"/>
              <a:cs typeface="Roboto"/>
              <a:sym typeface="Roboto"/>
            </a:endParaRPr>
          </a:p>
          <a:p>
            <a:pPr indent="0" lvl="0" marL="0" rtl="0" algn="l">
              <a:lnSpc>
                <a:spcPct val="90000"/>
              </a:lnSpc>
              <a:spcBef>
                <a:spcPts val="500"/>
              </a:spcBef>
              <a:spcAft>
                <a:spcPts val="0"/>
              </a:spcAft>
              <a:buNone/>
            </a:pPr>
            <a:r>
              <a:rPr lang="en-US" sz="1800">
                <a:solidFill>
                  <a:srgbClr val="0D0D0D"/>
                </a:solidFill>
                <a:highlight>
                  <a:srgbClr val="FFFFFF"/>
                </a:highlight>
                <a:latin typeface="Roboto"/>
                <a:ea typeface="Roboto"/>
                <a:cs typeface="Roboto"/>
                <a:sym typeface="Roboto"/>
              </a:rPr>
              <a:t>Bu yöntem, katılımcıların etkileşimlerini artırarak hızlı ve etkili bir şekilde bilgi paylaşmalarına olanak tanır.</a:t>
            </a:r>
            <a:endParaRPr sz="1800">
              <a:solidFill>
                <a:srgbClr val="0D0D0D"/>
              </a:solidFill>
              <a:highlight>
                <a:srgbClr val="FFFFFF"/>
              </a:highlight>
              <a:latin typeface="Roboto"/>
              <a:ea typeface="Roboto"/>
              <a:cs typeface="Roboto"/>
              <a:sym typeface="Roboto"/>
            </a:endParaRPr>
          </a:p>
          <a:p>
            <a:pPr indent="-101600" lvl="1" marL="685800" rtl="0" algn="l">
              <a:lnSpc>
                <a:spcPct val="90000"/>
              </a:lnSpc>
              <a:spcBef>
                <a:spcPts val="500"/>
              </a:spcBef>
              <a:spcAft>
                <a:spcPts val="0"/>
              </a:spcAft>
              <a:buClr>
                <a:schemeClr val="dk1"/>
              </a:buClr>
              <a:buSzPts val="2000"/>
              <a:buNone/>
            </a:pPr>
            <a:r>
              <a:t/>
            </a:r>
            <a:endParaRPr sz="2000">
              <a:solidFill>
                <a:srgbClr val="FF0000"/>
              </a:solidFill>
            </a:endParaRPr>
          </a:p>
          <a:p>
            <a:pPr indent="-101600" lvl="0" marL="228600" rtl="0" algn="l">
              <a:lnSpc>
                <a:spcPct val="90000"/>
              </a:lnSpc>
              <a:spcBef>
                <a:spcPts val="1000"/>
              </a:spcBef>
              <a:spcAft>
                <a:spcPts val="0"/>
              </a:spcAft>
              <a:buClr>
                <a:schemeClr val="dk1"/>
              </a:buClr>
              <a:buSzPts val="2000"/>
              <a:buNone/>
            </a:pPr>
            <a:r>
              <a:t/>
            </a:r>
            <a:endParaRPr b="1" sz="2000"/>
          </a:p>
          <a:p>
            <a:pPr indent="-101600" lvl="1" marL="685800" rtl="0" algn="l">
              <a:lnSpc>
                <a:spcPct val="90000"/>
              </a:lnSpc>
              <a:spcBef>
                <a:spcPts val="500"/>
              </a:spcBef>
              <a:spcAft>
                <a:spcPts val="0"/>
              </a:spcAft>
              <a:buClr>
                <a:schemeClr val="dk1"/>
              </a:buClr>
              <a:buSzPts val="2000"/>
              <a:buNone/>
            </a:pPr>
            <a:r>
              <a:t/>
            </a:r>
            <a:endParaRPr sz="2000">
              <a:solidFill>
                <a:srgbClr val="FF0000"/>
              </a:solidFill>
            </a:endParaRPr>
          </a:p>
          <a:p>
            <a:pPr indent="-101600" lvl="1" marL="685800" rtl="0" algn="l">
              <a:lnSpc>
                <a:spcPct val="90000"/>
              </a:lnSpc>
              <a:spcBef>
                <a:spcPts val="500"/>
              </a:spcBef>
              <a:spcAft>
                <a:spcPts val="0"/>
              </a:spcAft>
              <a:buClr>
                <a:schemeClr val="dk1"/>
              </a:buClr>
              <a:buSzPts val="2000"/>
              <a:buNone/>
            </a:pPr>
            <a:r>
              <a:t/>
            </a:r>
            <a:endParaRPr sz="2000">
              <a:solidFill>
                <a:srgbClr val="FF0000"/>
              </a:solidFill>
            </a:endParaRPr>
          </a:p>
          <a:p>
            <a:pPr indent="0" lvl="0" marL="0" rtl="0" algn="l">
              <a:lnSpc>
                <a:spcPct val="90000"/>
              </a:lnSpc>
              <a:spcBef>
                <a:spcPts val="1000"/>
              </a:spcBef>
              <a:spcAft>
                <a:spcPts val="0"/>
              </a:spcAft>
              <a:buClr>
                <a:schemeClr val="dk1"/>
              </a:buClr>
              <a:buSzPts val="2000"/>
              <a:buNone/>
            </a:pPr>
            <a:r>
              <a:t/>
            </a:r>
            <a:endParaRPr sz="2000"/>
          </a:p>
        </p:txBody>
      </p:sp>
      <p:pic>
        <p:nvPicPr>
          <p:cNvPr id="152" name="Google Shape;152;p17"/>
          <p:cNvPicPr preferRelativeResize="0"/>
          <p:nvPr/>
        </p:nvPicPr>
        <p:blipFill>
          <a:blip r:embed="rId3">
            <a:alphaModFix/>
          </a:blip>
          <a:stretch>
            <a:fillRect/>
          </a:stretch>
        </p:blipFill>
        <p:spPr>
          <a:xfrm>
            <a:off x="3020400" y="3088974"/>
            <a:ext cx="6388626" cy="2997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lang="en-US" sz="3200">
                <a:solidFill>
                  <a:srgbClr val="DD7E0E"/>
                </a:solidFill>
              </a:rPr>
              <a:t>Temel Kavramlar</a:t>
            </a:r>
            <a:endParaRPr/>
          </a:p>
        </p:txBody>
      </p:sp>
      <p:sp>
        <p:nvSpPr>
          <p:cNvPr id="159" name="Google Shape;159;p18"/>
          <p:cNvSpPr txBox="1"/>
          <p:nvPr>
            <p:ph idx="1" type="body"/>
          </p:nvPr>
        </p:nvSpPr>
        <p:spPr>
          <a:xfrm>
            <a:off x="838200" y="1367150"/>
            <a:ext cx="10982100" cy="5125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500"/>
              </a:spcBef>
              <a:spcAft>
                <a:spcPts val="0"/>
              </a:spcAft>
              <a:buNone/>
            </a:pPr>
            <a:r>
              <a:t/>
            </a:r>
            <a:endParaRPr sz="1800">
              <a:solidFill>
                <a:srgbClr val="0D0D0D"/>
              </a:solidFill>
              <a:highlight>
                <a:srgbClr val="FFFFFF"/>
              </a:highlight>
              <a:latin typeface="Roboto"/>
              <a:ea typeface="Roboto"/>
              <a:cs typeface="Roboto"/>
              <a:sym typeface="Roboto"/>
            </a:endParaRPr>
          </a:p>
          <a:p>
            <a:pPr indent="0" lvl="0" marL="0" rtl="0" algn="l">
              <a:lnSpc>
                <a:spcPct val="90000"/>
              </a:lnSpc>
              <a:spcBef>
                <a:spcPts val="500"/>
              </a:spcBef>
              <a:spcAft>
                <a:spcPts val="0"/>
              </a:spcAft>
              <a:buNone/>
            </a:pPr>
            <a:r>
              <a:rPr lang="en-US" sz="1600">
                <a:solidFill>
                  <a:srgbClr val="DD7E0E"/>
                </a:solidFill>
                <a:highlight>
                  <a:srgbClr val="FFFFFF"/>
                </a:highlight>
                <a:latin typeface="Roboto"/>
                <a:ea typeface="Roboto"/>
                <a:cs typeface="Roboto"/>
                <a:sym typeface="Roboto"/>
              </a:rPr>
              <a:t>Events (Etkinlikler): </a:t>
            </a:r>
            <a:r>
              <a:rPr lang="en-US" sz="1600">
                <a:solidFill>
                  <a:srgbClr val="0D0D0D"/>
                </a:solidFill>
                <a:highlight>
                  <a:srgbClr val="FFFFFF"/>
                </a:highlight>
                <a:latin typeface="Roboto"/>
                <a:ea typeface="Roboto"/>
                <a:cs typeface="Roboto"/>
                <a:sym typeface="Roboto"/>
              </a:rPr>
              <a:t>Sistemin gerçekleştirdiği önemli olaylar veya durum değişiklikleri. (Geçmiş Zaman Kipi)</a:t>
            </a:r>
            <a:endParaRPr sz="1600">
              <a:solidFill>
                <a:srgbClr val="0D0D0D"/>
              </a:solidFill>
              <a:highlight>
                <a:srgbClr val="FFFFFF"/>
              </a:highlight>
              <a:latin typeface="Roboto"/>
              <a:ea typeface="Roboto"/>
              <a:cs typeface="Roboto"/>
              <a:sym typeface="Roboto"/>
            </a:endParaRPr>
          </a:p>
          <a:p>
            <a:pPr indent="0" lvl="0" marL="0" rtl="0" algn="l">
              <a:lnSpc>
                <a:spcPct val="90000"/>
              </a:lnSpc>
              <a:spcBef>
                <a:spcPts val="500"/>
              </a:spcBef>
              <a:spcAft>
                <a:spcPts val="0"/>
              </a:spcAft>
              <a:buNone/>
            </a:pPr>
            <a:r>
              <a:t/>
            </a:r>
            <a:endParaRPr sz="1600">
              <a:solidFill>
                <a:srgbClr val="ED7D31"/>
              </a:solidFill>
              <a:highlight>
                <a:srgbClr val="FFFFFF"/>
              </a:highlight>
              <a:latin typeface="Roboto"/>
              <a:ea typeface="Roboto"/>
              <a:cs typeface="Roboto"/>
              <a:sym typeface="Roboto"/>
            </a:endParaRPr>
          </a:p>
          <a:p>
            <a:pPr indent="-101600" lvl="1" marL="685800" rtl="0" algn="l">
              <a:lnSpc>
                <a:spcPct val="90000"/>
              </a:lnSpc>
              <a:spcBef>
                <a:spcPts val="500"/>
              </a:spcBef>
              <a:spcAft>
                <a:spcPts val="0"/>
              </a:spcAft>
              <a:buClr>
                <a:schemeClr val="dk1"/>
              </a:buClr>
              <a:buSzPts val="2000"/>
              <a:buNone/>
            </a:pPr>
            <a:r>
              <a:rPr lang="en-US" sz="1600">
                <a:solidFill>
                  <a:srgbClr val="0D0D0D"/>
                </a:solidFill>
                <a:highlight>
                  <a:srgbClr val="FFFFFF"/>
                </a:highlight>
                <a:latin typeface="Roboto"/>
                <a:ea typeface="Roboto"/>
                <a:cs typeface="Roboto"/>
                <a:sym typeface="Roboto"/>
              </a:rPr>
              <a:t>“kullanıcı kaydolduğunda, bir sipariş oluşturulduğunda veya bir ödeme işlendiğinde gerçekleşen olaylar”</a:t>
            </a:r>
            <a:endParaRPr sz="1600">
              <a:solidFill>
                <a:srgbClr val="FF0000"/>
              </a:solidFill>
            </a:endParaRPr>
          </a:p>
          <a:p>
            <a:pPr indent="-101600" lvl="0" marL="228600" rtl="0" algn="l">
              <a:lnSpc>
                <a:spcPct val="90000"/>
              </a:lnSpc>
              <a:spcBef>
                <a:spcPts val="1000"/>
              </a:spcBef>
              <a:spcAft>
                <a:spcPts val="0"/>
              </a:spcAft>
              <a:buClr>
                <a:schemeClr val="dk1"/>
              </a:buClr>
              <a:buSzPts val="2000"/>
              <a:buNone/>
            </a:pPr>
            <a:r>
              <a:t/>
            </a:r>
            <a:endParaRPr b="1" sz="1600"/>
          </a:p>
          <a:p>
            <a:pPr indent="0" lvl="1" marL="0" rtl="0" algn="l">
              <a:lnSpc>
                <a:spcPct val="90000"/>
              </a:lnSpc>
              <a:spcBef>
                <a:spcPts val="500"/>
              </a:spcBef>
              <a:spcAft>
                <a:spcPts val="0"/>
              </a:spcAft>
              <a:buClr>
                <a:schemeClr val="dk1"/>
              </a:buClr>
              <a:buSzPts val="2000"/>
              <a:buNone/>
            </a:pPr>
            <a:r>
              <a:rPr lang="en-US" sz="1600">
                <a:solidFill>
                  <a:srgbClr val="ED7D31"/>
                </a:solidFill>
                <a:highlight>
                  <a:srgbClr val="FFFFFF"/>
                </a:highlight>
                <a:latin typeface="Roboto"/>
                <a:ea typeface="Roboto"/>
                <a:cs typeface="Roboto"/>
                <a:sym typeface="Roboto"/>
              </a:rPr>
              <a:t>Commands (Komutlar) :</a:t>
            </a:r>
            <a:r>
              <a:rPr lang="en-US" sz="1600">
                <a:solidFill>
                  <a:srgbClr val="0D0D0D"/>
                </a:solidFill>
                <a:highlight>
                  <a:srgbClr val="FFFFFF"/>
                </a:highlight>
                <a:latin typeface="Roboto"/>
                <a:ea typeface="Roboto"/>
                <a:cs typeface="Roboto"/>
                <a:sym typeface="Roboto"/>
              </a:rPr>
              <a:t> Sisteme bir eylemi gerçekleştirmesi için talimat veren isteklerdir (Emir Kipi)</a:t>
            </a:r>
            <a:endParaRPr sz="1600">
              <a:solidFill>
                <a:srgbClr val="0D0D0D"/>
              </a:solidFill>
              <a:highlight>
                <a:srgbClr val="FFFFFF"/>
              </a:highlight>
              <a:latin typeface="Roboto"/>
              <a:ea typeface="Roboto"/>
              <a:cs typeface="Roboto"/>
              <a:sym typeface="Roboto"/>
            </a:endParaRPr>
          </a:p>
          <a:p>
            <a:pPr indent="-101600" lvl="1" marL="685800" rtl="0" algn="l">
              <a:spcBef>
                <a:spcPts val="500"/>
              </a:spcBef>
              <a:spcAft>
                <a:spcPts val="0"/>
              </a:spcAft>
              <a:buClr>
                <a:schemeClr val="dk1"/>
              </a:buClr>
              <a:buSzPts val="2000"/>
              <a:buNone/>
            </a:pPr>
            <a:r>
              <a:t/>
            </a:r>
            <a:endParaRPr sz="1600">
              <a:solidFill>
                <a:srgbClr val="0D0D0D"/>
              </a:solidFill>
              <a:highlight>
                <a:srgbClr val="FFFFFF"/>
              </a:highlight>
              <a:latin typeface="Roboto"/>
              <a:ea typeface="Roboto"/>
              <a:cs typeface="Roboto"/>
              <a:sym typeface="Roboto"/>
            </a:endParaRPr>
          </a:p>
          <a:p>
            <a:pPr indent="-101600" lvl="1" marL="1143000" rtl="0" algn="l">
              <a:spcBef>
                <a:spcPts val="500"/>
              </a:spcBef>
              <a:spcAft>
                <a:spcPts val="0"/>
              </a:spcAft>
              <a:buClr>
                <a:schemeClr val="dk1"/>
              </a:buClr>
              <a:buSzPts val="2000"/>
              <a:buNone/>
            </a:pPr>
            <a:r>
              <a:rPr lang="en-US" sz="1600">
                <a:solidFill>
                  <a:srgbClr val="0D0D0D"/>
                </a:solidFill>
                <a:highlight>
                  <a:srgbClr val="FFFFFF"/>
                </a:highlight>
                <a:latin typeface="Roboto"/>
                <a:ea typeface="Roboto"/>
                <a:cs typeface="Roboto"/>
                <a:sym typeface="Roboto"/>
              </a:rPr>
              <a:t>“kullanıcı hesabı oluştur, para transfer et”</a:t>
            </a:r>
            <a:endParaRPr sz="1600">
              <a:solidFill>
                <a:srgbClr val="FF0000"/>
              </a:solidFill>
            </a:endParaRPr>
          </a:p>
          <a:p>
            <a:pPr indent="0" lvl="0" marL="0" rtl="0" algn="l">
              <a:lnSpc>
                <a:spcPct val="90000"/>
              </a:lnSpc>
              <a:spcBef>
                <a:spcPts val="1000"/>
              </a:spcBef>
              <a:spcAft>
                <a:spcPts val="0"/>
              </a:spcAft>
              <a:buClr>
                <a:schemeClr val="dk1"/>
              </a:buClr>
              <a:buSzPts val="2000"/>
              <a:buNone/>
            </a:pPr>
            <a:r>
              <a:t/>
            </a:r>
            <a:endParaRPr sz="1600"/>
          </a:p>
          <a:p>
            <a:pPr indent="0" lvl="0" marL="0" rtl="0" algn="l">
              <a:lnSpc>
                <a:spcPct val="90000"/>
              </a:lnSpc>
              <a:spcBef>
                <a:spcPts val="1000"/>
              </a:spcBef>
              <a:spcAft>
                <a:spcPts val="0"/>
              </a:spcAft>
              <a:buClr>
                <a:schemeClr val="dk1"/>
              </a:buClr>
              <a:buSzPts val="2000"/>
              <a:buNone/>
            </a:pPr>
            <a:r>
              <a:rPr lang="en-US" sz="1600">
                <a:solidFill>
                  <a:srgbClr val="ED7D31"/>
                </a:solidFill>
                <a:highlight>
                  <a:srgbClr val="FFFFFF"/>
                </a:highlight>
                <a:latin typeface="Roboto"/>
                <a:ea typeface="Roboto"/>
                <a:cs typeface="Roboto"/>
                <a:sym typeface="Roboto"/>
              </a:rPr>
              <a:t>Policies (Poliçeler)</a:t>
            </a:r>
            <a:r>
              <a:rPr lang="en-US" sz="1600">
                <a:solidFill>
                  <a:srgbClr val="0D0D0D"/>
                </a:solidFill>
                <a:highlight>
                  <a:srgbClr val="FFFFFF"/>
                </a:highlight>
                <a:latin typeface="Roboto"/>
                <a:ea typeface="Roboto"/>
                <a:cs typeface="Roboto"/>
                <a:sym typeface="Roboto"/>
              </a:rPr>
              <a:t>: Etkinliklerin veya komutların neden olduğu sistem durumu değişiklikleri</a:t>
            </a:r>
            <a:endParaRPr sz="1600">
              <a:solidFill>
                <a:srgbClr val="0D0D0D"/>
              </a:solidFill>
              <a:highlight>
                <a:srgbClr val="FFFFFF"/>
              </a:highlight>
              <a:latin typeface="Roboto"/>
              <a:ea typeface="Roboto"/>
              <a:cs typeface="Roboto"/>
              <a:sym typeface="Roboto"/>
            </a:endParaRPr>
          </a:p>
          <a:p>
            <a:pPr indent="0" lvl="0" marL="0" rtl="0" algn="l">
              <a:lnSpc>
                <a:spcPct val="90000"/>
              </a:lnSpc>
              <a:spcBef>
                <a:spcPts val="1000"/>
              </a:spcBef>
              <a:spcAft>
                <a:spcPts val="0"/>
              </a:spcAft>
              <a:buClr>
                <a:schemeClr val="dk1"/>
              </a:buClr>
              <a:buSzPts val="2000"/>
              <a:buNone/>
            </a:pPr>
            <a:r>
              <a:rPr lang="en-US" sz="1600">
                <a:solidFill>
                  <a:srgbClr val="0D0D0D"/>
                </a:solidFill>
                <a:highlight>
                  <a:srgbClr val="FFFFFF"/>
                </a:highlight>
                <a:latin typeface="Roboto"/>
                <a:ea typeface="Roboto"/>
                <a:cs typeface="Roboto"/>
                <a:sym typeface="Roboto"/>
              </a:rPr>
              <a:t>   	</a:t>
            </a:r>
            <a:endParaRPr sz="1600">
              <a:solidFill>
                <a:srgbClr val="0D0D0D"/>
              </a:solidFill>
              <a:highlight>
                <a:srgbClr val="FFFFFF"/>
              </a:highlight>
              <a:latin typeface="Roboto"/>
              <a:ea typeface="Roboto"/>
              <a:cs typeface="Roboto"/>
              <a:sym typeface="Roboto"/>
            </a:endParaRPr>
          </a:p>
          <a:p>
            <a:pPr indent="457200" lvl="0" marL="0" rtl="0" algn="l">
              <a:lnSpc>
                <a:spcPct val="90000"/>
              </a:lnSpc>
              <a:spcBef>
                <a:spcPts val="1000"/>
              </a:spcBef>
              <a:spcAft>
                <a:spcPts val="0"/>
              </a:spcAft>
              <a:buClr>
                <a:schemeClr val="dk1"/>
              </a:buClr>
              <a:buSzPts val="2000"/>
              <a:buNone/>
            </a:pPr>
            <a:r>
              <a:rPr lang="en-US" sz="1600">
                <a:solidFill>
                  <a:srgbClr val="0D0D0D"/>
                </a:solidFill>
                <a:highlight>
                  <a:srgbClr val="FFFFFF"/>
                </a:highlight>
                <a:latin typeface="Roboto"/>
                <a:ea typeface="Roboto"/>
                <a:cs typeface="Roboto"/>
                <a:sym typeface="Roboto"/>
              </a:rPr>
              <a:t>“Bir siparişin onaylanması sonucunda envanterdeki ürün miktarının azalması ”</a:t>
            </a:r>
            <a:endParaRPr sz="1600">
              <a:solidFill>
                <a:srgbClr val="0D0D0D"/>
              </a:solidFill>
              <a:highlight>
                <a:srgbClr val="FFFFFF"/>
              </a:highlight>
              <a:latin typeface="Roboto"/>
              <a:ea typeface="Roboto"/>
              <a:cs typeface="Roboto"/>
              <a:sym typeface="Roboto"/>
            </a:endParaRPr>
          </a:p>
          <a:p>
            <a:pPr indent="0" lvl="0" marL="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DD7E0E"/>
              </a:buClr>
              <a:buSzPts val="3200"/>
              <a:buFont typeface="Twentieth Century"/>
              <a:buNone/>
            </a:pPr>
            <a:r>
              <a:rPr lang="en-US" sz="3200">
                <a:solidFill>
                  <a:srgbClr val="DD7E0E"/>
                </a:solidFill>
              </a:rPr>
              <a:t>Event Storming</a:t>
            </a:r>
            <a:endParaRPr/>
          </a:p>
        </p:txBody>
      </p:sp>
      <p:pic>
        <p:nvPicPr>
          <p:cNvPr id="166" name="Google Shape;166;p19"/>
          <p:cNvPicPr preferRelativeResize="0"/>
          <p:nvPr/>
        </p:nvPicPr>
        <p:blipFill>
          <a:blip r:embed="rId3">
            <a:alphaModFix/>
          </a:blip>
          <a:stretch>
            <a:fillRect/>
          </a:stretch>
        </p:blipFill>
        <p:spPr>
          <a:xfrm>
            <a:off x="1033388" y="2158825"/>
            <a:ext cx="1819275" cy="1866900"/>
          </a:xfrm>
          <a:prstGeom prst="rect">
            <a:avLst/>
          </a:prstGeom>
          <a:noFill/>
          <a:ln>
            <a:noFill/>
          </a:ln>
        </p:spPr>
      </p:pic>
      <p:pic>
        <p:nvPicPr>
          <p:cNvPr id="167" name="Google Shape;167;p19"/>
          <p:cNvPicPr preferRelativeResize="0"/>
          <p:nvPr/>
        </p:nvPicPr>
        <p:blipFill>
          <a:blip r:embed="rId4">
            <a:alphaModFix/>
          </a:blip>
          <a:stretch>
            <a:fillRect/>
          </a:stretch>
        </p:blipFill>
        <p:spPr>
          <a:xfrm>
            <a:off x="3351575" y="2268825"/>
            <a:ext cx="1819275" cy="1756902"/>
          </a:xfrm>
          <a:prstGeom prst="rect">
            <a:avLst/>
          </a:prstGeom>
          <a:noFill/>
          <a:ln>
            <a:noFill/>
          </a:ln>
        </p:spPr>
      </p:pic>
      <p:pic>
        <p:nvPicPr>
          <p:cNvPr id="168" name="Google Shape;168;p19"/>
          <p:cNvPicPr preferRelativeResize="0"/>
          <p:nvPr/>
        </p:nvPicPr>
        <p:blipFill>
          <a:blip r:embed="rId5">
            <a:alphaModFix/>
          </a:blip>
          <a:stretch>
            <a:fillRect/>
          </a:stretch>
        </p:blipFill>
        <p:spPr>
          <a:xfrm>
            <a:off x="5507400" y="1924825"/>
            <a:ext cx="1793698" cy="2334900"/>
          </a:xfrm>
          <a:prstGeom prst="rect">
            <a:avLst/>
          </a:prstGeom>
          <a:noFill/>
          <a:ln>
            <a:noFill/>
          </a:ln>
        </p:spPr>
      </p:pic>
      <p:pic>
        <p:nvPicPr>
          <p:cNvPr id="169" name="Google Shape;169;p19"/>
          <p:cNvPicPr preferRelativeResize="0"/>
          <p:nvPr/>
        </p:nvPicPr>
        <p:blipFill>
          <a:blip r:embed="rId6">
            <a:alphaModFix/>
          </a:blip>
          <a:stretch>
            <a:fillRect/>
          </a:stretch>
        </p:blipFill>
        <p:spPr>
          <a:xfrm>
            <a:off x="7853973" y="2365523"/>
            <a:ext cx="1640520" cy="1563500"/>
          </a:xfrm>
          <a:prstGeom prst="rect">
            <a:avLst/>
          </a:prstGeom>
          <a:noFill/>
          <a:ln>
            <a:noFill/>
          </a:ln>
        </p:spPr>
      </p:pic>
      <p:pic>
        <p:nvPicPr>
          <p:cNvPr id="170" name="Google Shape;170;p19"/>
          <p:cNvPicPr preferRelativeResize="0"/>
          <p:nvPr/>
        </p:nvPicPr>
        <p:blipFill>
          <a:blip r:embed="rId7">
            <a:alphaModFix/>
          </a:blip>
          <a:stretch>
            <a:fillRect/>
          </a:stretch>
        </p:blipFill>
        <p:spPr>
          <a:xfrm>
            <a:off x="9744050" y="2241588"/>
            <a:ext cx="1690615" cy="1811375"/>
          </a:xfrm>
          <a:prstGeom prst="rect">
            <a:avLst/>
          </a:prstGeom>
          <a:noFill/>
          <a:ln>
            <a:noFill/>
          </a:ln>
        </p:spPr>
      </p:pic>
      <p:sp>
        <p:nvSpPr>
          <p:cNvPr id="171" name="Google Shape;171;p19"/>
          <p:cNvSpPr txBox="1"/>
          <p:nvPr/>
        </p:nvSpPr>
        <p:spPr>
          <a:xfrm>
            <a:off x="1213438" y="4110400"/>
            <a:ext cx="1459200" cy="5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Avenir"/>
                <a:ea typeface="Avenir"/>
                <a:cs typeface="Avenir"/>
                <a:sym typeface="Avenir"/>
              </a:rPr>
              <a:t>No Information</a:t>
            </a:r>
            <a:endParaRPr sz="1200">
              <a:solidFill>
                <a:schemeClr val="dk1"/>
              </a:solidFill>
              <a:latin typeface="Avenir"/>
              <a:ea typeface="Avenir"/>
              <a:cs typeface="Avenir"/>
              <a:sym typeface="Avenir"/>
            </a:endParaRPr>
          </a:p>
        </p:txBody>
      </p:sp>
      <p:sp>
        <p:nvSpPr>
          <p:cNvPr id="172" name="Google Shape;172;p19"/>
          <p:cNvSpPr txBox="1"/>
          <p:nvPr/>
        </p:nvSpPr>
        <p:spPr>
          <a:xfrm>
            <a:off x="3711650" y="4267525"/>
            <a:ext cx="1459200" cy="5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Avenir"/>
                <a:ea typeface="Avenir"/>
                <a:cs typeface="Avenir"/>
                <a:sym typeface="Avenir"/>
              </a:rPr>
              <a:t>Command And Actor</a:t>
            </a:r>
            <a:endParaRPr sz="1200">
              <a:solidFill>
                <a:schemeClr val="dk1"/>
              </a:solidFill>
              <a:latin typeface="Avenir"/>
              <a:ea typeface="Avenir"/>
              <a:cs typeface="Avenir"/>
              <a:sym typeface="Avenir"/>
            </a:endParaRPr>
          </a:p>
        </p:txBody>
      </p:sp>
      <p:sp>
        <p:nvSpPr>
          <p:cNvPr id="173" name="Google Shape;173;p19"/>
          <p:cNvSpPr txBox="1"/>
          <p:nvPr/>
        </p:nvSpPr>
        <p:spPr>
          <a:xfrm>
            <a:off x="5783400" y="4267525"/>
            <a:ext cx="1459200" cy="5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Avenir"/>
                <a:ea typeface="Avenir"/>
                <a:cs typeface="Avenir"/>
                <a:sym typeface="Avenir"/>
              </a:rPr>
              <a:t>Command And Actor, And UI</a:t>
            </a:r>
            <a:endParaRPr sz="1200">
              <a:solidFill>
                <a:schemeClr val="dk1"/>
              </a:solidFill>
              <a:latin typeface="Avenir"/>
              <a:ea typeface="Avenir"/>
              <a:cs typeface="Avenir"/>
              <a:sym typeface="Avenir"/>
            </a:endParaRPr>
          </a:p>
        </p:txBody>
      </p:sp>
      <p:sp>
        <p:nvSpPr>
          <p:cNvPr id="174" name="Google Shape;174;p19"/>
          <p:cNvSpPr txBox="1"/>
          <p:nvPr/>
        </p:nvSpPr>
        <p:spPr>
          <a:xfrm>
            <a:off x="7855150" y="4267525"/>
            <a:ext cx="1459200" cy="5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Avenir"/>
                <a:ea typeface="Avenir"/>
                <a:cs typeface="Avenir"/>
                <a:sym typeface="Avenir"/>
              </a:rPr>
              <a:t>Policy, State Change</a:t>
            </a:r>
            <a:endParaRPr sz="1200">
              <a:solidFill>
                <a:schemeClr val="dk1"/>
              </a:solidFill>
              <a:latin typeface="Avenir"/>
              <a:ea typeface="Avenir"/>
              <a:cs typeface="Avenir"/>
              <a:sym typeface="Avenir"/>
            </a:endParaRPr>
          </a:p>
        </p:txBody>
      </p:sp>
      <p:sp>
        <p:nvSpPr>
          <p:cNvPr id="175" name="Google Shape;175;p19"/>
          <p:cNvSpPr txBox="1"/>
          <p:nvPr/>
        </p:nvSpPr>
        <p:spPr>
          <a:xfrm>
            <a:off x="9926888" y="4177750"/>
            <a:ext cx="1459200" cy="549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Avenir"/>
                <a:ea typeface="Avenir"/>
                <a:cs typeface="Avenir"/>
                <a:sym typeface="Avenir"/>
              </a:rPr>
              <a:t>Event</a:t>
            </a:r>
            <a:endParaRPr sz="1200">
              <a:solidFill>
                <a:schemeClr val="dk1"/>
              </a:solidFill>
              <a:latin typeface="Avenir"/>
              <a:ea typeface="Avenir"/>
              <a:cs typeface="Avenir"/>
              <a:sym typeface="Aveni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3200"/>
              <a:buFont typeface="Twentieth Century"/>
              <a:buNone/>
            </a:pPr>
            <a:r>
              <a:rPr lang="en-US" sz="3200">
                <a:solidFill>
                  <a:srgbClr val="DD7E0E"/>
                </a:solidFill>
              </a:rPr>
              <a:t>Event Storming</a:t>
            </a:r>
            <a:endParaRPr/>
          </a:p>
        </p:txBody>
      </p:sp>
      <p:pic>
        <p:nvPicPr>
          <p:cNvPr id="182" name="Google Shape;182;p20"/>
          <p:cNvPicPr preferRelativeResize="0"/>
          <p:nvPr/>
        </p:nvPicPr>
        <p:blipFill>
          <a:blip r:embed="rId3">
            <a:alphaModFix/>
          </a:blip>
          <a:stretch>
            <a:fillRect/>
          </a:stretch>
        </p:blipFill>
        <p:spPr>
          <a:xfrm>
            <a:off x="838200" y="1742200"/>
            <a:ext cx="10134600" cy="4248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type="title"/>
          </p:nvPr>
        </p:nvSpPr>
        <p:spPr>
          <a:xfrm>
            <a:off x="838200" y="23045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150000"/>
              </a:lnSpc>
              <a:spcBef>
                <a:spcPts val="1200"/>
              </a:spcBef>
              <a:spcAft>
                <a:spcPts val="200"/>
              </a:spcAft>
              <a:buClr>
                <a:schemeClr val="dk1"/>
              </a:buClr>
              <a:buSzPts val="1100"/>
              <a:buFont typeface="Arial"/>
              <a:buNone/>
            </a:pPr>
            <a:r>
              <a:rPr b="1" lang="en-US" sz="2000">
                <a:solidFill>
                  <a:srgbClr val="DD7E0E"/>
                </a:solidFill>
                <a:highlight>
                  <a:srgbClr val="FFFFFF"/>
                </a:highlight>
                <a:latin typeface="Roboto"/>
                <a:ea typeface="Roboto"/>
                <a:cs typeface="Roboto"/>
                <a:sym typeface="Roboto"/>
              </a:rPr>
              <a:t>Event Storming Faydalar</a:t>
            </a:r>
            <a:endParaRPr sz="3200">
              <a:solidFill>
                <a:srgbClr val="DD7E0E"/>
              </a:solidFill>
            </a:endParaRPr>
          </a:p>
        </p:txBody>
      </p:sp>
      <p:sp>
        <p:nvSpPr>
          <p:cNvPr id="189" name="Google Shape;189;p21"/>
          <p:cNvSpPr txBox="1"/>
          <p:nvPr>
            <p:ph idx="1" type="body"/>
          </p:nvPr>
        </p:nvSpPr>
        <p:spPr>
          <a:xfrm>
            <a:off x="838200" y="1367150"/>
            <a:ext cx="10982100" cy="5125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600"/>
              </a:spcBef>
              <a:spcAft>
                <a:spcPts val="0"/>
              </a:spcAft>
              <a:buNone/>
            </a:pPr>
            <a:r>
              <a:t/>
            </a:r>
            <a:endParaRPr sz="1600">
              <a:solidFill>
                <a:srgbClr val="0D0D0D"/>
              </a:solidFill>
              <a:highlight>
                <a:srgbClr val="FFFFFF"/>
              </a:highlight>
              <a:latin typeface="Roboto"/>
              <a:ea typeface="Roboto"/>
              <a:cs typeface="Roboto"/>
              <a:sym typeface="Roboto"/>
            </a:endParaRPr>
          </a:p>
          <a:p>
            <a:pPr indent="-330200" lvl="0" marL="457200" rtl="0" algn="l">
              <a:lnSpc>
                <a:spcPct val="115000"/>
              </a:lnSpc>
              <a:spcBef>
                <a:spcPts val="2100"/>
              </a:spcBef>
              <a:spcAft>
                <a:spcPts val="0"/>
              </a:spcAft>
              <a:buClr>
                <a:srgbClr val="0D0D0D"/>
              </a:buClr>
              <a:buSzPts val="1600"/>
              <a:buFont typeface="Roboto"/>
              <a:buChar char="•"/>
            </a:pPr>
            <a:r>
              <a:rPr lang="en-US" sz="1600">
                <a:solidFill>
                  <a:srgbClr val="0D0D0D"/>
                </a:solidFill>
                <a:highlight>
                  <a:srgbClr val="FFFFFF"/>
                </a:highlight>
                <a:latin typeface="Roboto"/>
                <a:ea typeface="Roboto"/>
                <a:cs typeface="Roboto"/>
                <a:sym typeface="Roboto"/>
              </a:rPr>
              <a:t>Karmaşık sistemlerin hızlı ve etkili bir şekilde anlaşılmasını sağlar.</a:t>
            </a:r>
            <a:endParaRPr sz="1600">
              <a:solidFill>
                <a:srgbClr val="0D0D0D"/>
              </a:solidFill>
              <a:highlight>
                <a:srgbClr val="FFFFFF"/>
              </a:highlight>
              <a:latin typeface="Roboto"/>
              <a:ea typeface="Roboto"/>
              <a:cs typeface="Roboto"/>
              <a:sym typeface="Roboto"/>
            </a:endParaRPr>
          </a:p>
          <a:p>
            <a:pPr indent="0" lvl="0" marL="914400" rtl="0" algn="l">
              <a:lnSpc>
                <a:spcPct val="115000"/>
              </a:lnSpc>
              <a:spcBef>
                <a:spcPts val="2100"/>
              </a:spcBef>
              <a:spcAft>
                <a:spcPts val="0"/>
              </a:spcAft>
              <a:buNone/>
            </a:pPr>
            <a:r>
              <a:t/>
            </a:r>
            <a:endParaRPr sz="1600">
              <a:solidFill>
                <a:srgbClr val="0D0D0D"/>
              </a:solidFill>
              <a:highlight>
                <a:srgbClr val="FFFFFF"/>
              </a:highlight>
              <a:latin typeface="Roboto"/>
              <a:ea typeface="Roboto"/>
              <a:cs typeface="Roboto"/>
              <a:sym typeface="Roboto"/>
            </a:endParaRPr>
          </a:p>
          <a:p>
            <a:pPr indent="-330200" lvl="0" marL="457200" rtl="0" algn="l">
              <a:lnSpc>
                <a:spcPct val="115000"/>
              </a:lnSpc>
              <a:spcBef>
                <a:spcPts val="2100"/>
              </a:spcBef>
              <a:spcAft>
                <a:spcPts val="0"/>
              </a:spcAft>
              <a:buClr>
                <a:srgbClr val="0D0D0D"/>
              </a:buClr>
              <a:buSzPts val="1600"/>
              <a:buFont typeface="Roboto"/>
              <a:buChar char="•"/>
            </a:pPr>
            <a:r>
              <a:rPr lang="en-US" sz="1600">
                <a:solidFill>
                  <a:srgbClr val="0D0D0D"/>
                </a:solidFill>
                <a:highlight>
                  <a:srgbClr val="FFFFFF"/>
                </a:highlight>
                <a:latin typeface="Roboto"/>
                <a:ea typeface="Roboto"/>
                <a:cs typeface="Roboto"/>
                <a:sym typeface="Roboto"/>
              </a:rPr>
              <a:t>Farklı paydaşlar arasında işbirliğini teşvik eder ve ortak bir anlayış geliştirir.</a:t>
            </a:r>
            <a:endParaRPr sz="1600">
              <a:solidFill>
                <a:srgbClr val="0D0D0D"/>
              </a:solidFill>
              <a:highlight>
                <a:srgbClr val="FFFFFF"/>
              </a:highlight>
              <a:latin typeface="Roboto"/>
              <a:ea typeface="Roboto"/>
              <a:cs typeface="Roboto"/>
              <a:sym typeface="Roboto"/>
            </a:endParaRPr>
          </a:p>
          <a:p>
            <a:pPr indent="0" lvl="0" marL="914400" rtl="0" algn="l">
              <a:lnSpc>
                <a:spcPct val="115000"/>
              </a:lnSpc>
              <a:spcBef>
                <a:spcPts val="2100"/>
              </a:spcBef>
              <a:spcAft>
                <a:spcPts val="0"/>
              </a:spcAft>
              <a:buNone/>
            </a:pPr>
            <a:r>
              <a:t/>
            </a:r>
            <a:endParaRPr sz="1600">
              <a:solidFill>
                <a:srgbClr val="0D0D0D"/>
              </a:solidFill>
              <a:highlight>
                <a:srgbClr val="FFFFFF"/>
              </a:highlight>
              <a:latin typeface="Roboto"/>
              <a:ea typeface="Roboto"/>
              <a:cs typeface="Roboto"/>
              <a:sym typeface="Roboto"/>
            </a:endParaRPr>
          </a:p>
          <a:p>
            <a:pPr indent="-330200" lvl="0" marL="457200" rtl="0" algn="l">
              <a:lnSpc>
                <a:spcPct val="115000"/>
              </a:lnSpc>
              <a:spcBef>
                <a:spcPts val="2100"/>
              </a:spcBef>
              <a:spcAft>
                <a:spcPts val="0"/>
              </a:spcAft>
              <a:buClr>
                <a:srgbClr val="0D0D0D"/>
              </a:buClr>
              <a:buSzPts val="1600"/>
              <a:buFont typeface="Roboto"/>
              <a:buChar char="•"/>
            </a:pPr>
            <a:r>
              <a:rPr lang="en-US" sz="1600">
                <a:solidFill>
                  <a:srgbClr val="0D0D0D"/>
                </a:solidFill>
                <a:highlight>
                  <a:srgbClr val="FFFFFF"/>
                </a:highlight>
                <a:latin typeface="Roboto"/>
                <a:ea typeface="Roboto"/>
                <a:cs typeface="Roboto"/>
                <a:sym typeface="Roboto"/>
              </a:rPr>
              <a:t>Proje gereksinimlerinin netleştirilmesine ve belirlenmesine yardımcı olur.</a:t>
            </a:r>
            <a:endParaRPr sz="1600">
              <a:solidFill>
                <a:srgbClr val="0D0D0D"/>
              </a:solidFill>
              <a:highlight>
                <a:srgbClr val="FFFFFF"/>
              </a:highlight>
              <a:latin typeface="Roboto"/>
              <a:ea typeface="Roboto"/>
              <a:cs typeface="Roboto"/>
              <a:sym typeface="Roboto"/>
            </a:endParaRPr>
          </a:p>
          <a:p>
            <a:pPr indent="0" lvl="0" marL="0" rtl="0" algn="l">
              <a:lnSpc>
                <a:spcPct val="115000"/>
              </a:lnSpc>
              <a:spcBef>
                <a:spcPts val="2100"/>
              </a:spcBef>
              <a:spcAft>
                <a:spcPts val="0"/>
              </a:spcAft>
              <a:buNone/>
            </a:pPr>
            <a:r>
              <a:t/>
            </a:r>
            <a:endParaRPr sz="1600">
              <a:solidFill>
                <a:srgbClr val="0D0D0D"/>
              </a:solidFill>
              <a:highlight>
                <a:srgbClr val="FFFFFF"/>
              </a:highlight>
              <a:latin typeface="Roboto"/>
              <a:ea typeface="Roboto"/>
              <a:cs typeface="Roboto"/>
              <a:sym typeface="Roboto"/>
            </a:endParaRPr>
          </a:p>
          <a:p>
            <a:pPr indent="-330200" lvl="0" marL="457200" rtl="0" algn="l">
              <a:lnSpc>
                <a:spcPct val="90000"/>
              </a:lnSpc>
              <a:spcBef>
                <a:spcPts val="2100"/>
              </a:spcBef>
              <a:spcAft>
                <a:spcPts val="0"/>
              </a:spcAft>
              <a:buClr>
                <a:srgbClr val="0D0D0D"/>
              </a:buClr>
              <a:buSzPts val="1600"/>
              <a:buFont typeface="Roboto"/>
              <a:buChar char="•"/>
            </a:pPr>
            <a:r>
              <a:rPr lang="en-US" sz="1600">
                <a:solidFill>
                  <a:srgbClr val="0D0D0D"/>
                </a:solidFill>
                <a:highlight>
                  <a:srgbClr val="FFFFFF"/>
                </a:highlight>
                <a:latin typeface="Roboto"/>
                <a:ea typeface="Roboto"/>
                <a:cs typeface="Roboto"/>
                <a:sym typeface="Roboto"/>
              </a:rPr>
              <a:t>Hem teknik ekiplerin hem de iş ekiplerinin katılımıyla, gereksinimlerin uyumlu bir şekilde birleştirilmesini sağlar.</a:t>
            </a:r>
            <a:endParaRPr sz="1600">
              <a:solidFill>
                <a:srgbClr val="0D0D0D"/>
              </a:solidFill>
              <a:highlight>
                <a:srgbClr val="FFFFFF"/>
              </a:highlight>
              <a:latin typeface="Roboto"/>
              <a:ea typeface="Roboto"/>
              <a:cs typeface="Roboto"/>
              <a:sym typeface="Roboto"/>
            </a:endParaRPr>
          </a:p>
          <a:p>
            <a:pPr indent="0" lvl="0" marL="0" rtl="0" algn="l">
              <a:lnSpc>
                <a:spcPct val="90000"/>
              </a:lnSpc>
              <a:spcBef>
                <a:spcPts val="1000"/>
              </a:spcBef>
              <a:spcAft>
                <a:spcPts val="0"/>
              </a:spcAft>
              <a:buClr>
                <a:schemeClr val="dk1"/>
              </a:buClr>
              <a:buSzPts val="2000"/>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Driven Design (DDD)</a:t>
            </a:r>
            <a:endParaRPr/>
          </a:p>
        </p:txBody>
      </p:sp>
      <p:sp>
        <p:nvSpPr>
          <p:cNvPr id="196" name="Google Shape;196;p2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US"/>
              <a:t>Yazılım projelerindeki karmaşık iş süreçlerini yönetmek için geliştirilmiş bir uygulama geliştirme yaklaşımıdır.</a:t>
            </a:r>
            <a:endParaRPr/>
          </a:p>
          <a:p>
            <a:pPr indent="0" lvl="0" marL="0" rtl="0" algn="l">
              <a:lnSpc>
                <a:spcPct val="90000"/>
              </a:lnSpc>
              <a:spcBef>
                <a:spcPts val="1000"/>
              </a:spcBef>
              <a:spcAft>
                <a:spcPts val="0"/>
              </a:spcAft>
              <a:buClr>
                <a:schemeClr val="dk1"/>
              </a:buClr>
              <a:buSzPct val="100000"/>
              <a:buNone/>
            </a:pPr>
            <a:r>
              <a:t/>
            </a:r>
            <a:endParaRPr/>
          </a:p>
          <a:p>
            <a:pPr indent="-201930" lvl="0" marL="228600" rtl="0" algn="l">
              <a:lnSpc>
                <a:spcPct val="90000"/>
              </a:lnSpc>
              <a:spcBef>
                <a:spcPts val="1000"/>
              </a:spcBef>
              <a:spcAft>
                <a:spcPts val="0"/>
              </a:spcAft>
              <a:buClr>
                <a:schemeClr val="dk1"/>
              </a:buClr>
              <a:buSzPct val="100000"/>
              <a:buChar char="•"/>
            </a:pPr>
            <a:r>
              <a:rPr lang="en-US"/>
              <a:t>Domain de </a:t>
            </a:r>
            <a:r>
              <a:rPr lang="en-US"/>
              <a:t>uzmanlık</a:t>
            </a:r>
            <a:r>
              <a:rPr lang="en-US"/>
              <a:t> gerektirir</a:t>
            </a:r>
            <a:endParaRPr/>
          </a:p>
          <a:p>
            <a:pPr indent="-50800" lvl="0" marL="228600" rtl="0" algn="l">
              <a:lnSpc>
                <a:spcPct val="90000"/>
              </a:lnSpc>
              <a:spcBef>
                <a:spcPts val="1000"/>
              </a:spcBef>
              <a:spcAft>
                <a:spcPts val="0"/>
              </a:spcAft>
              <a:buClr>
                <a:schemeClr val="dk1"/>
              </a:buClr>
              <a:buSzPct val="100000"/>
              <a:buNone/>
            </a:pPr>
            <a:r>
              <a:t/>
            </a:r>
            <a:endParaRPr/>
          </a:p>
          <a:p>
            <a:pPr indent="-201930" lvl="0" marL="228600" rtl="0" algn="l">
              <a:lnSpc>
                <a:spcPct val="90000"/>
              </a:lnSpc>
              <a:spcBef>
                <a:spcPts val="1000"/>
              </a:spcBef>
              <a:spcAft>
                <a:spcPts val="0"/>
              </a:spcAft>
              <a:buClr>
                <a:schemeClr val="dk1"/>
              </a:buClr>
              <a:buSzPct val="100000"/>
              <a:buChar char="•"/>
            </a:pPr>
            <a:r>
              <a:rPr lang="en-US"/>
              <a:t>Her proje tipine uygun değildir</a:t>
            </a:r>
            <a:endParaRPr/>
          </a:p>
          <a:p>
            <a:pPr indent="-50800" lvl="0" marL="228600" rtl="0" algn="l">
              <a:lnSpc>
                <a:spcPct val="90000"/>
              </a:lnSpc>
              <a:spcBef>
                <a:spcPts val="1000"/>
              </a:spcBef>
              <a:spcAft>
                <a:spcPts val="0"/>
              </a:spcAft>
              <a:buClr>
                <a:schemeClr val="dk1"/>
              </a:buClr>
              <a:buSzPct val="100000"/>
              <a:buNone/>
            </a:pPr>
            <a:r>
              <a:t/>
            </a:r>
            <a:endParaRPr/>
          </a:p>
          <a:p>
            <a:pPr indent="-201930" lvl="0" marL="228600" rtl="0" algn="l">
              <a:lnSpc>
                <a:spcPct val="90000"/>
              </a:lnSpc>
              <a:spcBef>
                <a:spcPts val="1000"/>
              </a:spcBef>
              <a:spcAft>
                <a:spcPts val="0"/>
              </a:spcAft>
              <a:buClr>
                <a:schemeClr val="dk1"/>
              </a:buClr>
              <a:buSzPct val="100000"/>
              <a:buChar char="•"/>
            </a:pPr>
            <a:r>
              <a:rPr lang="en-US"/>
              <a:t>Karmaşık iş süreçlerinin sürdürülebilirliğini artırır</a:t>
            </a:r>
            <a:endParaRPr/>
          </a:p>
          <a:p>
            <a:pPr indent="0" lvl="0" marL="0" rtl="0" algn="l">
              <a:lnSpc>
                <a:spcPct val="90000"/>
              </a:lnSpc>
              <a:spcBef>
                <a:spcPts val="1000"/>
              </a:spcBef>
              <a:spcAft>
                <a:spcPts val="0"/>
              </a:spcAft>
              <a:buClr>
                <a:schemeClr val="dk1"/>
              </a:buClr>
              <a:buSzPct val="100000"/>
              <a:buNone/>
            </a:pPr>
            <a:r>
              <a:t/>
            </a:r>
            <a:endParaRPr/>
          </a:p>
          <a:p>
            <a:pPr indent="-5080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Strategic</a:t>
            </a:r>
            <a:r>
              <a:rPr lang="en-US" sz="4400">
                <a:solidFill>
                  <a:srgbClr val="DD7E0E"/>
                </a:solidFill>
              </a:rPr>
              <a:t> Domain Driven Design</a:t>
            </a:r>
            <a:br>
              <a:rPr lang="en-US" sz="4400"/>
            </a:br>
            <a:endParaRPr/>
          </a:p>
        </p:txBody>
      </p:sp>
      <p:sp>
        <p:nvSpPr>
          <p:cNvPr id="203" name="Google Shape;203;p2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Ubiquitous</a:t>
            </a:r>
            <a:r>
              <a:rPr lang="en-US"/>
              <a:t> Language</a:t>
            </a:r>
            <a:endParaRPr/>
          </a:p>
          <a:p>
            <a:pPr indent="-228600" lvl="0" marL="228600" rtl="0" algn="l">
              <a:lnSpc>
                <a:spcPct val="90000"/>
              </a:lnSpc>
              <a:spcBef>
                <a:spcPts val="1000"/>
              </a:spcBef>
              <a:spcAft>
                <a:spcPts val="0"/>
              </a:spcAft>
              <a:buClr>
                <a:schemeClr val="dk1"/>
              </a:buClr>
              <a:buSzPts val="2800"/>
              <a:buChar char="•"/>
            </a:pPr>
            <a:r>
              <a:rPr lang="en-US"/>
              <a:t>DDD Roles</a:t>
            </a:r>
            <a:endParaRPr/>
          </a:p>
          <a:p>
            <a:pPr indent="-228600" lvl="0" marL="228600" rtl="0" algn="l">
              <a:lnSpc>
                <a:spcPct val="90000"/>
              </a:lnSpc>
              <a:spcBef>
                <a:spcPts val="1000"/>
              </a:spcBef>
              <a:spcAft>
                <a:spcPts val="0"/>
              </a:spcAft>
              <a:buClr>
                <a:schemeClr val="dk1"/>
              </a:buClr>
              <a:buSzPts val="2800"/>
              <a:buChar char="•"/>
            </a:pPr>
            <a:r>
              <a:rPr lang="en-US"/>
              <a:t>Domain Model</a:t>
            </a:r>
            <a:endParaRPr/>
          </a:p>
          <a:p>
            <a:pPr indent="-228600" lvl="0" marL="228600" rtl="0" algn="l">
              <a:lnSpc>
                <a:spcPct val="90000"/>
              </a:lnSpc>
              <a:spcBef>
                <a:spcPts val="1000"/>
              </a:spcBef>
              <a:spcAft>
                <a:spcPts val="0"/>
              </a:spcAft>
              <a:buClr>
                <a:schemeClr val="dk1"/>
              </a:buClr>
              <a:buSzPts val="2800"/>
              <a:buChar char="•"/>
            </a:pPr>
            <a:r>
              <a:rPr lang="en-US"/>
              <a:t>Domain (Core,Supporting,Generic)</a:t>
            </a:r>
            <a:endParaRPr/>
          </a:p>
          <a:p>
            <a:pPr indent="-228600" lvl="0" marL="228600" rtl="0" algn="l">
              <a:lnSpc>
                <a:spcPct val="90000"/>
              </a:lnSpc>
              <a:spcBef>
                <a:spcPts val="1000"/>
              </a:spcBef>
              <a:spcAft>
                <a:spcPts val="0"/>
              </a:spcAft>
              <a:buClr>
                <a:schemeClr val="dk1"/>
              </a:buClr>
              <a:buSzPts val="2800"/>
              <a:buChar char="•"/>
            </a:pPr>
            <a:r>
              <a:rPr lang="en-US"/>
              <a:t>Bounded Context</a:t>
            </a:r>
            <a:endParaRPr/>
          </a:p>
          <a:p>
            <a:pPr indent="-228600" lvl="0" marL="228600" rtl="0" algn="l">
              <a:lnSpc>
                <a:spcPct val="90000"/>
              </a:lnSpc>
              <a:spcBef>
                <a:spcPts val="1000"/>
              </a:spcBef>
              <a:spcAft>
                <a:spcPts val="0"/>
              </a:spcAft>
              <a:buClr>
                <a:schemeClr val="dk1"/>
              </a:buClr>
              <a:buSzPts val="2800"/>
              <a:buChar char="•"/>
            </a:pPr>
            <a:r>
              <a:rPr lang="en-US"/>
              <a:t>Context</a:t>
            </a:r>
            <a:r>
              <a:rPr lang="en-US"/>
              <a:t> Mapping</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Ubiquitous Language (Ortak Dil)</a:t>
            </a:r>
            <a:endParaRPr/>
          </a:p>
        </p:txBody>
      </p:sp>
      <p:sp>
        <p:nvSpPr>
          <p:cNvPr id="210" name="Google Shape;210;p2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Uygulamayı geliştirecek takım ile uygulamanın domain hakkında bilgi, tecrübeye sahip kişiler arasında ortak bir dil </a:t>
            </a:r>
            <a:r>
              <a:rPr lang="en-US"/>
              <a:t>oluşturulmalıdır</a:t>
            </a:r>
            <a:r>
              <a:rPr lang="en-US"/>
              <a:t>.</a:t>
            </a:r>
            <a:endParaRPr/>
          </a:p>
        </p:txBody>
      </p:sp>
      <p:sp>
        <p:nvSpPr>
          <p:cNvPr id="211" name="Google Shape;211;p24"/>
          <p:cNvSpPr/>
          <p:nvPr/>
        </p:nvSpPr>
        <p:spPr>
          <a:xfrm>
            <a:off x="1180069" y="3393988"/>
            <a:ext cx="1915296" cy="1441621"/>
          </a:xfrm>
          <a:prstGeom prst="roundRect">
            <a:avLst>
              <a:gd fmla="val 16667" name="adj"/>
            </a:avLst>
          </a:prstGeom>
          <a:solidFill>
            <a:srgbClr val="ED7D31"/>
          </a:solidFill>
          <a:ln cap="flat" cmpd="sng" w="12700">
            <a:solidFill>
              <a:srgbClr val="78846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Domain </a:t>
            </a:r>
            <a:endParaRPr b="0" i="0" sz="1800" u="none" cap="none" strike="noStrike">
              <a:solidFill>
                <a:schemeClr val="lt1"/>
              </a:solidFill>
              <a:latin typeface="Avenir"/>
              <a:ea typeface="Avenir"/>
              <a:cs typeface="Avenir"/>
              <a:sym typeface="Avenir"/>
            </a:endParaRPr>
          </a:p>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Expert</a:t>
            </a:r>
            <a:endParaRPr/>
          </a:p>
        </p:txBody>
      </p:sp>
      <p:sp>
        <p:nvSpPr>
          <p:cNvPr id="212" name="Google Shape;212;p24"/>
          <p:cNvSpPr/>
          <p:nvPr/>
        </p:nvSpPr>
        <p:spPr>
          <a:xfrm>
            <a:off x="8419069" y="3424880"/>
            <a:ext cx="1915296" cy="1441621"/>
          </a:xfrm>
          <a:prstGeom prst="roundRect">
            <a:avLst>
              <a:gd fmla="val 16667" name="adj"/>
            </a:avLst>
          </a:prstGeom>
          <a:solidFill>
            <a:srgbClr val="ED7D31"/>
          </a:solidFill>
          <a:ln cap="flat" cmpd="sng" w="12700">
            <a:solidFill>
              <a:srgbClr val="78846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Development</a:t>
            </a:r>
            <a:endParaRPr/>
          </a:p>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Teams</a:t>
            </a:r>
            <a:endParaRPr/>
          </a:p>
        </p:txBody>
      </p:sp>
      <p:sp>
        <p:nvSpPr>
          <p:cNvPr id="213" name="Google Shape;213;p24"/>
          <p:cNvSpPr/>
          <p:nvPr/>
        </p:nvSpPr>
        <p:spPr>
          <a:xfrm>
            <a:off x="3561041" y="3751748"/>
            <a:ext cx="4366053" cy="937053"/>
          </a:xfrm>
          <a:prstGeom prst="leftRightArrow">
            <a:avLst>
              <a:gd fmla="val 50000" name="adj1"/>
              <a:gd fmla="val 50000" name="adj2"/>
            </a:avLst>
          </a:prstGeom>
          <a:solidFill>
            <a:srgbClr val="0070C0"/>
          </a:solidFill>
          <a:ln cap="flat" cmpd="sng" w="12700">
            <a:solidFill>
              <a:srgbClr val="78846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Ubiquitous Language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DDD Roles</a:t>
            </a:r>
            <a:endParaRPr>
              <a:solidFill>
                <a:srgbClr val="DD7E0E"/>
              </a:solidFill>
            </a:endParaRPr>
          </a:p>
        </p:txBody>
      </p:sp>
      <p:pic>
        <p:nvPicPr>
          <p:cNvPr descr="A diagram of a problem solving process&#10;&#10;Description automatically generated" id="220" name="Google Shape;220;p25"/>
          <p:cNvPicPr preferRelativeResize="0"/>
          <p:nvPr/>
        </p:nvPicPr>
        <p:blipFill rotWithShape="1">
          <a:blip r:embed="rId3">
            <a:alphaModFix/>
          </a:blip>
          <a:srcRect b="0" l="0" r="0" t="0"/>
          <a:stretch/>
        </p:blipFill>
        <p:spPr>
          <a:xfrm>
            <a:off x="2350477" y="1331790"/>
            <a:ext cx="6881446" cy="516108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Stakeholders</a:t>
            </a:r>
            <a:r>
              <a:rPr lang="en-US">
                <a:solidFill>
                  <a:srgbClr val="DD7E0E"/>
                </a:solidFill>
              </a:rPr>
              <a:t> (Paydaş)</a:t>
            </a:r>
            <a:endParaRPr>
              <a:solidFill>
                <a:srgbClr val="DD7E0E"/>
              </a:solidFill>
            </a:endParaRPr>
          </a:p>
        </p:txBody>
      </p:sp>
      <p:sp>
        <p:nvSpPr>
          <p:cNvPr id="227" name="Google Shape;227;p2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1850"/>
              <a:t>Stakeholders</a:t>
            </a:r>
            <a:r>
              <a:rPr lang="en-US" sz="1850"/>
              <a:t>, bir proje veya iş ile süreci ile ilgili olan herkesi kapsar.</a:t>
            </a:r>
            <a:endParaRPr sz="1850"/>
          </a:p>
          <a:p>
            <a:pPr indent="0" lvl="0" marL="0" rtl="0" algn="l">
              <a:lnSpc>
                <a:spcPct val="90000"/>
              </a:lnSpc>
              <a:spcBef>
                <a:spcPts val="1000"/>
              </a:spcBef>
              <a:spcAft>
                <a:spcPts val="0"/>
              </a:spcAft>
              <a:buClr>
                <a:schemeClr val="dk1"/>
              </a:buClr>
              <a:buSzPts val="2800"/>
              <a:buNone/>
            </a:pPr>
            <a:r>
              <a:t/>
            </a:r>
            <a:endParaRPr sz="1850"/>
          </a:p>
          <a:p>
            <a:pPr indent="0" lvl="0" marL="0" rtl="0" algn="l">
              <a:lnSpc>
                <a:spcPct val="90000"/>
              </a:lnSpc>
              <a:spcBef>
                <a:spcPts val="1000"/>
              </a:spcBef>
              <a:spcAft>
                <a:spcPts val="0"/>
              </a:spcAft>
              <a:buClr>
                <a:schemeClr val="dk1"/>
              </a:buClr>
              <a:buSzPts val="2800"/>
              <a:buNone/>
            </a:pPr>
            <a:r>
              <a:rPr lang="en-US" sz="1850"/>
              <a:t>Stakeholders</a:t>
            </a:r>
            <a:r>
              <a:rPr lang="en-US" sz="1850"/>
              <a:t>, organizasyonun amaçlarına, gereksinimlerine doğrudan veya dolaylı olarak katkıda bulunabilir.</a:t>
            </a:r>
            <a:endParaRPr sz="1850"/>
          </a:p>
          <a:p>
            <a:pPr indent="0" lvl="0" marL="0" rtl="0" algn="l">
              <a:lnSpc>
                <a:spcPct val="90000"/>
              </a:lnSpc>
              <a:spcBef>
                <a:spcPts val="1000"/>
              </a:spcBef>
              <a:spcAft>
                <a:spcPts val="0"/>
              </a:spcAft>
              <a:buClr>
                <a:schemeClr val="dk1"/>
              </a:buClr>
              <a:buSzPts val="2800"/>
              <a:buNone/>
            </a:pPr>
            <a:r>
              <a:t/>
            </a:r>
            <a:endParaRPr sz="1850"/>
          </a:p>
          <a:p>
            <a:pPr indent="0" lvl="0" marL="228600" rtl="0" algn="l">
              <a:lnSpc>
                <a:spcPct val="90000"/>
              </a:lnSpc>
              <a:spcBef>
                <a:spcPts val="1000"/>
              </a:spcBef>
              <a:spcAft>
                <a:spcPts val="0"/>
              </a:spcAft>
              <a:buNone/>
            </a:pPr>
            <a:r>
              <a:rPr lang="en-US" sz="1850">
                <a:solidFill>
                  <a:srgbClr val="0D0D0D"/>
                </a:solidFill>
                <a:latin typeface="Arial"/>
                <a:ea typeface="Arial"/>
                <a:cs typeface="Arial"/>
                <a:sym typeface="Arial"/>
              </a:rPr>
              <a:t>Technical Experts</a:t>
            </a:r>
            <a:endParaRPr sz="1850">
              <a:solidFill>
                <a:srgbClr val="0D0D0D"/>
              </a:solidFill>
              <a:latin typeface="Arial"/>
              <a:ea typeface="Arial"/>
              <a:cs typeface="Arial"/>
              <a:sym typeface="Arial"/>
            </a:endParaRPr>
          </a:p>
          <a:p>
            <a:pPr indent="0" lvl="0" marL="228600" rtl="0" algn="l">
              <a:lnSpc>
                <a:spcPct val="90000"/>
              </a:lnSpc>
              <a:spcBef>
                <a:spcPts val="1000"/>
              </a:spcBef>
              <a:spcAft>
                <a:spcPts val="0"/>
              </a:spcAft>
              <a:buNone/>
            </a:pPr>
            <a:r>
              <a:rPr lang="en-US" sz="1850">
                <a:solidFill>
                  <a:srgbClr val="0D0D0D"/>
                </a:solidFill>
                <a:latin typeface="Arial"/>
                <a:ea typeface="Arial"/>
                <a:cs typeface="Arial"/>
                <a:sym typeface="Arial"/>
              </a:rPr>
              <a:t>Domain Experts</a:t>
            </a:r>
            <a:endParaRPr sz="1850">
              <a:solidFill>
                <a:srgbClr val="0D0D0D"/>
              </a:solidFill>
              <a:latin typeface="Arial"/>
              <a:ea typeface="Arial"/>
              <a:cs typeface="Arial"/>
              <a:sym typeface="Arial"/>
            </a:endParaRPr>
          </a:p>
          <a:p>
            <a:pPr indent="0" lvl="0" marL="228600" rtl="0" algn="l">
              <a:lnSpc>
                <a:spcPct val="90000"/>
              </a:lnSpc>
              <a:spcBef>
                <a:spcPts val="1000"/>
              </a:spcBef>
              <a:spcAft>
                <a:spcPts val="0"/>
              </a:spcAft>
              <a:buNone/>
            </a:pPr>
            <a:r>
              <a:rPr lang="en-US" sz="1850">
                <a:solidFill>
                  <a:srgbClr val="0D0D0D"/>
                </a:solidFill>
                <a:latin typeface="Arial"/>
                <a:ea typeface="Arial"/>
                <a:cs typeface="Arial"/>
                <a:sym typeface="Arial"/>
              </a:rPr>
              <a:t>Customers</a:t>
            </a:r>
            <a:endParaRPr sz="1850">
              <a:solidFill>
                <a:srgbClr val="0D0D0D"/>
              </a:solidFill>
              <a:latin typeface="Arial"/>
              <a:ea typeface="Arial"/>
              <a:cs typeface="Arial"/>
              <a:sym typeface="Arial"/>
            </a:endParaRPr>
          </a:p>
          <a:p>
            <a:pPr indent="0" lvl="0" marL="228600" rtl="0" algn="l">
              <a:lnSpc>
                <a:spcPct val="90000"/>
              </a:lnSpc>
              <a:spcBef>
                <a:spcPts val="1000"/>
              </a:spcBef>
              <a:spcAft>
                <a:spcPts val="0"/>
              </a:spcAft>
              <a:buNone/>
            </a:pPr>
            <a:r>
              <a:rPr lang="en-US" sz="1850">
                <a:solidFill>
                  <a:srgbClr val="0D0D0D"/>
                </a:solidFill>
                <a:latin typeface="Arial"/>
                <a:ea typeface="Arial"/>
                <a:cs typeface="Arial"/>
                <a:sym typeface="Arial"/>
              </a:rPr>
              <a:t>Users</a:t>
            </a:r>
            <a:endParaRPr sz="1850">
              <a:solidFill>
                <a:srgbClr val="0D0D0D"/>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Expert</a:t>
            </a:r>
            <a:endParaRPr>
              <a:solidFill>
                <a:srgbClr val="DD7E0E"/>
              </a:solidFill>
            </a:endParaRPr>
          </a:p>
        </p:txBody>
      </p:sp>
      <p:sp>
        <p:nvSpPr>
          <p:cNvPr id="233" name="Google Shape;233;p2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Domain expert problem alanı (problem space) ile ilgili uzmanlık gerektiren bilgiye sahip kişidir.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Technical</a:t>
            </a:r>
            <a:r>
              <a:rPr lang="en-US">
                <a:solidFill>
                  <a:srgbClr val="DD7E0E"/>
                </a:solidFill>
              </a:rPr>
              <a:t> Experts</a:t>
            </a:r>
            <a:endParaRPr>
              <a:solidFill>
                <a:srgbClr val="DD7E0E"/>
              </a:solidFill>
            </a:endParaRPr>
          </a:p>
        </p:txBody>
      </p:sp>
      <p:sp>
        <p:nvSpPr>
          <p:cNvPr id="239" name="Google Shape;239;p2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Developer</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Analist</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Architect</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Test Engineer</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Product Owner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Model</a:t>
            </a:r>
            <a:endParaRPr>
              <a:solidFill>
                <a:srgbClr val="DD7E0E"/>
              </a:solidFill>
            </a:endParaRPr>
          </a:p>
        </p:txBody>
      </p:sp>
      <p:sp>
        <p:nvSpPr>
          <p:cNvPr id="245" name="Google Shape;245;p2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Yazılımın nasıl tasarlanacağına dair yol gösterir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Etki alanının genel fikrini içermelidir.</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ER diyagramlarına nazaran resim ve görselle desteklenmelidir.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Model</a:t>
            </a:r>
            <a:endParaRPr>
              <a:solidFill>
                <a:srgbClr val="DD7E0E"/>
              </a:solidFill>
            </a:endParaRPr>
          </a:p>
        </p:txBody>
      </p:sp>
      <p:sp>
        <p:nvSpPr>
          <p:cNvPr id="251" name="Google Shape;251;p3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Bir yazılım projesinde iş problemine dair çözümün soyut bir temsilidir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Domain modeli, yazılımın nasıl tasarlanacağına dair yol gösterir.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Domain modelinde, iş domain’i ile ilgili tüm bilgiler, ilgili bağlamda, tutarlı ve bütünleşik bir yapıda sunulur. </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Model</a:t>
            </a:r>
            <a:endParaRPr>
              <a:solidFill>
                <a:srgbClr val="DD7E0E"/>
              </a:solidFill>
            </a:endParaRPr>
          </a:p>
        </p:txBody>
      </p:sp>
      <p:sp>
        <p:nvSpPr>
          <p:cNvPr id="257" name="Google Shape;257;p3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F7F7F"/>
              </a:buClr>
              <a:buSzPts val="2800"/>
              <a:buNone/>
            </a:pPr>
            <a:r>
              <a:rPr lang="en-US">
                <a:solidFill>
                  <a:srgbClr val="7F7F7F"/>
                </a:solidFill>
              </a:rPr>
              <a:t>«Domain Model, belirli bir diyagram değildir! Diyagramın iletmeyi amaçladığı fikirdir. Ve bu sadece alan uzmanının kafasındaki bilgi değil, bu bilginin titiz bir şekilde organize edilmiş bir soyutlamasıdır»  </a:t>
            </a:r>
            <a:endParaRPr/>
          </a:p>
          <a:p>
            <a:pPr indent="0" lvl="0" marL="0" rtl="0" algn="l">
              <a:lnSpc>
                <a:spcPct val="90000"/>
              </a:lnSpc>
              <a:spcBef>
                <a:spcPts val="1000"/>
              </a:spcBef>
              <a:spcAft>
                <a:spcPts val="0"/>
              </a:spcAft>
              <a:buClr>
                <a:schemeClr val="dk1"/>
              </a:buClr>
              <a:buSzPts val="2800"/>
              <a:buNone/>
            </a:pPr>
            <a:r>
              <a:t/>
            </a:r>
            <a:endParaRPr>
              <a:solidFill>
                <a:srgbClr val="7F7F7F"/>
              </a:solidFill>
            </a:endParaRPr>
          </a:p>
          <a:p>
            <a:pPr indent="0" lvl="0" marL="0" rtl="0" algn="l">
              <a:lnSpc>
                <a:spcPct val="90000"/>
              </a:lnSpc>
              <a:spcBef>
                <a:spcPts val="1000"/>
              </a:spcBef>
              <a:spcAft>
                <a:spcPts val="0"/>
              </a:spcAft>
              <a:buClr>
                <a:schemeClr val="dk1"/>
              </a:buClr>
              <a:buSzPts val="2800"/>
              <a:buNone/>
            </a:pPr>
            <a:r>
              <a:rPr lang="en-US"/>
              <a:t>Eric Evans</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Model</a:t>
            </a:r>
            <a:endParaRPr/>
          </a:p>
        </p:txBody>
      </p:sp>
      <p:pic>
        <p:nvPicPr>
          <p:cNvPr descr="A diagram of a restaurant&#10;&#10;Description automatically generated" id="263" name="Google Shape;263;p32"/>
          <p:cNvPicPr preferRelativeResize="0"/>
          <p:nvPr>
            <p:ph idx="1" type="body"/>
          </p:nvPr>
        </p:nvPicPr>
        <p:blipFill rotWithShape="1">
          <a:blip r:embed="rId3">
            <a:alphaModFix/>
          </a:blip>
          <a:srcRect b="0" l="0" r="0" t="0"/>
          <a:stretch/>
        </p:blipFill>
        <p:spPr>
          <a:xfrm>
            <a:off x="3258590" y="1475064"/>
            <a:ext cx="5674819" cy="501781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Driven Design (DDD)</a:t>
            </a:r>
            <a:endParaRPr/>
          </a:p>
        </p:txBody>
      </p:sp>
      <p:pic>
        <p:nvPicPr>
          <p:cNvPr descr="A picture containing text, sketch, handwriting, drawing&#10;&#10;Description automatically generated" id="269" name="Google Shape;269;p33"/>
          <p:cNvPicPr preferRelativeResize="0"/>
          <p:nvPr>
            <p:ph idx="1" type="body"/>
          </p:nvPr>
        </p:nvPicPr>
        <p:blipFill rotWithShape="1">
          <a:blip r:embed="rId3">
            <a:alphaModFix/>
          </a:blip>
          <a:srcRect b="0" l="0" r="0" t="0"/>
          <a:stretch/>
        </p:blipFill>
        <p:spPr>
          <a:xfrm>
            <a:off x="2171407" y="1690688"/>
            <a:ext cx="6919839" cy="432151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Driven Design (DDD)</a:t>
            </a:r>
            <a:endParaRPr/>
          </a:p>
        </p:txBody>
      </p:sp>
      <p:sp>
        <p:nvSpPr>
          <p:cNvPr id="275" name="Google Shape;275;p3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a:solidFill>
                  <a:srgbClr val="DD7E0E"/>
                </a:solidFill>
              </a:rPr>
              <a:t>Domain: </a:t>
            </a:r>
            <a:r>
              <a:rPr lang="en-US"/>
              <a:t>Projenin geliştirilmekte olduğu belirli konuyu ifade etmek için kullanılır.</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rgbClr val="DD7E0E"/>
              </a:buClr>
              <a:buSzPts val="2800"/>
              <a:buNone/>
            </a:pPr>
            <a:r>
              <a:rPr lang="en-US">
                <a:solidFill>
                  <a:srgbClr val="DD7E0E"/>
                </a:solidFill>
              </a:rPr>
              <a:t>Sub Domain: </a:t>
            </a:r>
            <a:r>
              <a:rPr lang="en-US"/>
              <a:t>Ana domain bağlı belirli bir konuyu kendi içerisinde ifade etmek için kullanılan alt kümelerdir.</a:t>
            </a:r>
            <a:r>
              <a:rPr lang="en-US">
                <a:solidFill>
                  <a:srgbClr val="DD7E0E"/>
                </a:solidFill>
              </a:rPr>
              <a:t> </a:t>
            </a:r>
            <a:endParaRPr>
              <a:solidFill>
                <a:srgbClr val="DD7E0E"/>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Core, Support, Generic Domains</a:t>
            </a:r>
            <a:endParaRPr>
              <a:solidFill>
                <a:srgbClr val="DD7E0E"/>
              </a:solidFill>
            </a:endParaRPr>
          </a:p>
        </p:txBody>
      </p:sp>
      <p:pic>
        <p:nvPicPr>
          <p:cNvPr descr="A group of rectangular objects with writing&#10;&#10;Description automatically generated" id="281" name="Google Shape;281;p35"/>
          <p:cNvPicPr preferRelativeResize="0"/>
          <p:nvPr>
            <p:ph idx="1" type="body"/>
          </p:nvPr>
        </p:nvPicPr>
        <p:blipFill rotWithShape="1">
          <a:blip r:embed="rId3">
            <a:alphaModFix/>
          </a:blip>
          <a:srcRect b="0" l="0" r="0" t="0"/>
          <a:stretch/>
        </p:blipFill>
        <p:spPr>
          <a:xfrm>
            <a:off x="838200" y="1833025"/>
            <a:ext cx="10515600" cy="384441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Distillation (Damıtma)</a:t>
            </a:r>
            <a:endParaRPr>
              <a:solidFill>
                <a:srgbClr val="DD7E0E"/>
              </a:solidFill>
            </a:endParaRPr>
          </a:p>
        </p:txBody>
      </p:sp>
      <p:sp>
        <p:nvSpPr>
          <p:cNvPr id="287" name="Google Shape;287;p3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a:t>Core (sub)domain’in karmaşıklığını anlamak ve bu karmaşıklığı yalnızca gerekli olan kısımlara indirgemek için yapılır.</a:t>
            </a:r>
            <a:endParaRPr/>
          </a:p>
        </p:txBody>
      </p:sp>
      <p:pic>
        <p:nvPicPr>
          <p:cNvPr descr="A diagram of a diagram&#10;&#10;Description automatically generated" id="288" name="Google Shape;288;p36"/>
          <p:cNvPicPr preferRelativeResize="0"/>
          <p:nvPr/>
        </p:nvPicPr>
        <p:blipFill rotWithShape="1">
          <a:blip r:embed="rId3">
            <a:alphaModFix/>
          </a:blip>
          <a:srcRect b="0" l="0" r="0" t="0"/>
          <a:stretch/>
        </p:blipFill>
        <p:spPr>
          <a:xfrm>
            <a:off x="3361821" y="2813539"/>
            <a:ext cx="4797442" cy="385794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Distillation (Damıtma)</a:t>
            </a:r>
            <a:endParaRPr>
              <a:solidFill>
                <a:srgbClr val="DD7E0E"/>
              </a:solidFill>
            </a:endParaRPr>
          </a:p>
        </p:txBody>
      </p:sp>
      <p:sp>
        <p:nvSpPr>
          <p:cNvPr id="294" name="Google Shape;294;p3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Core (sub)domain’(ler)in belirlenmesi</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Core (sub)</a:t>
            </a:r>
            <a:r>
              <a:rPr lang="en-US"/>
              <a:t>domainin</a:t>
            </a:r>
            <a:r>
              <a:rPr lang="en-US"/>
              <a:t> </a:t>
            </a:r>
            <a:r>
              <a:rPr lang="en-US"/>
              <a:t>subdomainlerine</a:t>
            </a:r>
            <a:r>
              <a:rPr lang="en-US"/>
              <a:t> dekompozisyonu</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Supporting </a:t>
            </a:r>
            <a:r>
              <a:rPr lang="en-US"/>
              <a:t>subdomainlerin</a:t>
            </a:r>
            <a:r>
              <a:rPr lang="en-US"/>
              <a:t> ve generic </a:t>
            </a:r>
            <a:r>
              <a:rPr lang="en-US"/>
              <a:t>subdomainlerin</a:t>
            </a:r>
            <a:r>
              <a:rPr lang="en-US"/>
              <a:t> belirlenmesi</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Modellerin kod tabanında (codebase) taktiksel tasarımlara dönüştürülmesi</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Core Domain</a:t>
            </a:r>
            <a:endParaRPr>
              <a:solidFill>
                <a:srgbClr val="DD7E0E"/>
              </a:solidFill>
            </a:endParaRPr>
          </a:p>
        </p:txBody>
      </p:sp>
      <p:sp>
        <p:nvSpPr>
          <p:cNvPr id="301" name="Google Shape;301;p3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Organizasyonun temel iş süreçlerini ve rekabet avantajını sağlayan, o alanla ilgili olan ve işin özünü oluşturan bir alanı ifade eder. Uzmanlık gerektirir.</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Stratejik Hedefler</a:t>
            </a:r>
            <a:endParaRPr/>
          </a:p>
          <a:p>
            <a:pPr indent="-228600" lvl="0" marL="228600" rtl="0" algn="l">
              <a:lnSpc>
                <a:spcPct val="90000"/>
              </a:lnSpc>
              <a:spcBef>
                <a:spcPts val="1000"/>
              </a:spcBef>
              <a:spcAft>
                <a:spcPts val="0"/>
              </a:spcAft>
              <a:buClr>
                <a:schemeClr val="dk1"/>
              </a:buClr>
              <a:buSzPts val="2800"/>
              <a:buChar char="•"/>
            </a:pPr>
            <a:r>
              <a:rPr lang="en-US"/>
              <a:t>Yüksek Değer  </a:t>
            </a:r>
            <a:endParaRPr/>
          </a:p>
          <a:p>
            <a:pPr indent="-228600" lvl="0" marL="228600" rtl="0" algn="l">
              <a:lnSpc>
                <a:spcPct val="90000"/>
              </a:lnSpc>
              <a:spcBef>
                <a:spcPts val="1000"/>
              </a:spcBef>
              <a:spcAft>
                <a:spcPts val="0"/>
              </a:spcAft>
              <a:buClr>
                <a:schemeClr val="dk1"/>
              </a:buClr>
              <a:buSzPts val="2800"/>
              <a:buChar char="•"/>
            </a:pPr>
            <a:r>
              <a:rPr lang="en-US"/>
              <a:t>Uzmanlık Alanı</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Core Domain</a:t>
            </a:r>
            <a:endParaRPr>
              <a:solidFill>
                <a:srgbClr val="DD7E0E"/>
              </a:solidFill>
            </a:endParaRPr>
          </a:p>
        </p:txBody>
      </p:sp>
      <p:sp>
        <p:nvSpPr>
          <p:cNvPr id="308" name="Google Shape;308;p3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Finance (Bankacılık)</a:t>
            </a:r>
            <a:endParaRPr/>
          </a:p>
          <a:p>
            <a:pPr indent="-228600" lvl="0" marL="228600" rtl="0" algn="l">
              <a:lnSpc>
                <a:spcPct val="90000"/>
              </a:lnSpc>
              <a:spcBef>
                <a:spcPts val="1000"/>
              </a:spcBef>
              <a:spcAft>
                <a:spcPts val="0"/>
              </a:spcAft>
              <a:buClr>
                <a:schemeClr val="dk1"/>
              </a:buClr>
              <a:buSzPts val="2800"/>
              <a:buChar char="•"/>
            </a:pPr>
            <a:r>
              <a:rPr lang="en-US"/>
              <a:t>Product Catalog (E-Ticaret) </a:t>
            </a:r>
            <a:endParaRPr/>
          </a:p>
          <a:p>
            <a:pPr indent="-228600" lvl="0" marL="228600" rtl="0" algn="l">
              <a:lnSpc>
                <a:spcPct val="90000"/>
              </a:lnSpc>
              <a:spcBef>
                <a:spcPts val="1000"/>
              </a:spcBef>
              <a:spcAft>
                <a:spcPts val="0"/>
              </a:spcAft>
              <a:buClr>
                <a:schemeClr val="dk1"/>
              </a:buClr>
              <a:buSzPts val="2800"/>
              <a:buChar char="•"/>
            </a:pPr>
            <a:r>
              <a:rPr lang="en-US"/>
              <a:t>Personel Management and Recruitment (Insan Kaynakları)</a:t>
            </a:r>
            <a:endParaRPr/>
          </a:p>
          <a:p>
            <a:pPr indent="-228600" lvl="0" marL="228600" rtl="0" algn="l">
              <a:lnSpc>
                <a:spcPct val="90000"/>
              </a:lnSpc>
              <a:spcBef>
                <a:spcPts val="1000"/>
              </a:spcBef>
              <a:spcAft>
                <a:spcPts val="0"/>
              </a:spcAft>
              <a:buClr>
                <a:schemeClr val="dk1"/>
              </a:buClr>
              <a:buSzPts val="2800"/>
              <a:buChar char="•"/>
            </a:pPr>
            <a:r>
              <a:rPr lang="en-US"/>
              <a:t>Flight Management (Havacılık)</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Supporting Domain</a:t>
            </a:r>
            <a:endParaRPr>
              <a:solidFill>
                <a:srgbClr val="DD7E0E"/>
              </a:solidFill>
            </a:endParaRPr>
          </a:p>
        </p:txBody>
      </p:sp>
      <p:sp>
        <p:nvSpPr>
          <p:cNvPr id="315" name="Google Shape;315;p4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Core Domain’e destek amaçlı oluşturulan alanlardır. </a:t>
            </a:r>
            <a:endParaRPr/>
          </a:p>
          <a:p>
            <a:pPr indent="-228600" lvl="0" marL="228600" rtl="0" algn="l">
              <a:lnSpc>
                <a:spcPct val="90000"/>
              </a:lnSpc>
              <a:spcBef>
                <a:spcPts val="1000"/>
              </a:spcBef>
              <a:spcAft>
                <a:spcPts val="0"/>
              </a:spcAft>
              <a:buClr>
                <a:schemeClr val="dk1"/>
              </a:buClr>
              <a:buSzPts val="2800"/>
              <a:buChar char="•"/>
            </a:pPr>
            <a:r>
              <a:rPr lang="en-US"/>
              <a:t>Uzmanlık gerektir.</a:t>
            </a:r>
            <a:endParaRPr/>
          </a:p>
          <a:p>
            <a:pPr indent="-228600" lvl="0" marL="228600" rtl="0" algn="l">
              <a:lnSpc>
                <a:spcPct val="90000"/>
              </a:lnSpc>
              <a:spcBef>
                <a:spcPts val="1000"/>
              </a:spcBef>
              <a:spcAft>
                <a:spcPts val="0"/>
              </a:spcAft>
              <a:buClr>
                <a:schemeClr val="dk1"/>
              </a:buClr>
              <a:buSzPts val="2800"/>
              <a:buChar char="•"/>
            </a:pPr>
            <a:r>
              <a:rPr lang="en-US"/>
              <a:t>Kendine ait modelleri bulunur.</a:t>
            </a:r>
            <a:endParaRPr/>
          </a:p>
          <a:p>
            <a:pPr indent="-228600" lvl="0" marL="228600" rtl="0" algn="l">
              <a:lnSpc>
                <a:spcPct val="90000"/>
              </a:lnSpc>
              <a:spcBef>
                <a:spcPts val="1000"/>
              </a:spcBef>
              <a:spcAft>
                <a:spcPts val="0"/>
              </a:spcAft>
              <a:buClr>
                <a:schemeClr val="dk1"/>
              </a:buClr>
              <a:buSzPts val="2800"/>
              <a:buChar char="•"/>
            </a:pPr>
            <a:r>
              <a:rPr lang="en-US"/>
              <a:t>Tek başlarına bir anlamı yoktur.</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Support Domain</a:t>
            </a:r>
            <a:endParaRPr>
              <a:solidFill>
                <a:srgbClr val="DD7E0E"/>
              </a:solidFill>
            </a:endParaRPr>
          </a:p>
        </p:txBody>
      </p:sp>
      <p:sp>
        <p:nvSpPr>
          <p:cNvPr id="322" name="Google Shape;322;p4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Order Management (E-Ticaret)</a:t>
            </a:r>
            <a:endParaRPr/>
          </a:p>
          <a:p>
            <a:pPr indent="-228600" lvl="0" marL="228600" rtl="0" algn="l">
              <a:lnSpc>
                <a:spcPct val="90000"/>
              </a:lnSpc>
              <a:spcBef>
                <a:spcPts val="1000"/>
              </a:spcBef>
              <a:spcAft>
                <a:spcPts val="0"/>
              </a:spcAft>
              <a:buClr>
                <a:schemeClr val="dk1"/>
              </a:buClr>
              <a:buSzPts val="2800"/>
              <a:buChar char="•"/>
            </a:pPr>
            <a:r>
              <a:rPr lang="en-US"/>
              <a:t>Risk Managment (Bankacılık)</a:t>
            </a:r>
            <a:endParaRPr/>
          </a:p>
          <a:p>
            <a:pPr indent="-228600" lvl="0" marL="228600" rtl="0" algn="l">
              <a:lnSpc>
                <a:spcPct val="90000"/>
              </a:lnSpc>
              <a:spcBef>
                <a:spcPts val="1000"/>
              </a:spcBef>
              <a:spcAft>
                <a:spcPts val="0"/>
              </a:spcAft>
              <a:buClr>
                <a:schemeClr val="dk1"/>
              </a:buClr>
              <a:buSzPts val="2800"/>
              <a:buChar char="•"/>
            </a:pPr>
            <a:r>
              <a:rPr lang="en-US"/>
              <a:t>Crew Management (Denizcilik)</a:t>
            </a:r>
            <a:endParaRPr/>
          </a:p>
          <a:p>
            <a:pPr indent="-228600" lvl="0" marL="228600" rtl="0" algn="l">
              <a:lnSpc>
                <a:spcPct val="90000"/>
              </a:lnSpc>
              <a:spcBef>
                <a:spcPts val="1000"/>
              </a:spcBef>
              <a:spcAft>
                <a:spcPts val="0"/>
              </a:spcAft>
              <a:buClr>
                <a:schemeClr val="dk1"/>
              </a:buClr>
              <a:buSzPts val="2800"/>
              <a:buChar char="•"/>
            </a:pPr>
            <a:r>
              <a:rPr lang="en-US"/>
              <a:t>Aviation Maintance Management (Havacılık)</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Generic Domains</a:t>
            </a:r>
            <a:endParaRPr>
              <a:solidFill>
                <a:srgbClr val="DD7E0E"/>
              </a:solidFill>
            </a:endParaRPr>
          </a:p>
        </p:txBody>
      </p:sp>
      <p:sp>
        <p:nvSpPr>
          <p:cNvPr id="329" name="Google Shape;329;p4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92500" lnSpcReduction="10000"/>
          </a:bodyPr>
          <a:lstStyle/>
          <a:p>
            <a:pPr indent="-64135" lvl="0" marL="228600" rtl="0" algn="l">
              <a:lnSpc>
                <a:spcPct val="90000"/>
              </a:lnSpc>
              <a:spcBef>
                <a:spcPts val="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Kuruluşa, endüstriye, sektöre has olmayan, hazır çözümler ile çözüme kavuşturulan sorunların alanıdır. </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Tek başlarına kıymetlidirler</a:t>
            </a:r>
            <a:endParaRPr/>
          </a:p>
          <a:p>
            <a:pPr indent="-228600" lvl="0" marL="228600" rtl="0" algn="l">
              <a:lnSpc>
                <a:spcPct val="90000"/>
              </a:lnSpc>
              <a:spcBef>
                <a:spcPts val="1000"/>
              </a:spcBef>
              <a:spcAft>
                <a:spcPts val="0"/>
              </a:spcAft>
              <a:buClr>
                <a:schemeClr val="dk1"/>
              </a:buClr>
              <a:buSzPct val="100000"/>
              <a:buChar char="•"/>
            </a:pPr>
            <a:r>
              <a:rPr lang="en-US"/>
              <a:t>Rekabet avantajı sağlamazlar</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Authorization, Authentication, Log Management</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Generic Domains</a:t>
            </a:r>
            <a:endParaRPr>
              <a:solidFill>
                <a:srgbClr val="DD7E0E"/>
              </a:solidFill>
            </a:endParaRPr>
          </a:p>
        </p:txBody>
      </p:sp>
      <p:sp>
        <p:nvSpPr>
          <p:cNvPr id="336" name="Google Shape;336;p4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Inventory Management </a:t>
            </a:r>
            <a:endParaRPr/>
          </a:p>
          <a:p>
            <a:pPr indent="-228600" lvl="0" marL="228600" rtl="0" algn="l">
              <a:lnSpc>
                <a:spcPct val="90000"/>
              </a:lnSpc>
              <a:spcBef>
                <a:spcPts val="1000"/>
              </a:spcBef>
              <a:spcAft>
                <a:spcPts val="0"/>
              </a:spcAft>
              <a:buClr>
                <a:schemeClr val="dk1"/>
              </a:buClr>
              <a:buSzPts val="2800"/>
              <a:buChar char="•"/>
            </a:pPr>
            <a:r>
              <a:rPr lang="en-US"/>
              <a:t>Authorization And Authentication Management</a:t>
            </a:r>
            <a:endParaRPr/>
          </a:p>
          <a:p>
            <a:pPr indent="-228600" lvl="0" marL="228600" rtl="0" algn="l">
              <a:lnSpc>
                <a:spcPct val="90000"/>
              </a:lnSpc>
              <a:spcBef>
                <a:spcPts val="1000"/>
              </a:spcBef>
              <a:spcAft>
                <a:spcPts val="0"/>
              </a:spcAft>
              <a:buClr>
                <a:schemeClr val="dk1"/>
              </a:buClr>
              <a:buSzPts val="2800"/>
              <a:buChar char="•"/>
            </a:pPr>
            <a:r>
              <a:rPr lang="en-US"/>
              <a:t>Payment Magament</a:t>
            </a:r>
            <a:endParaRPr/>
          </a:p>
          <a:p>
            <a:pPr indent="-228600" lvl="0" marL="228600" rtl="0" algn="l">
              <a:lnSpc>
                <a:spcPct val="90000"/>
              </a:lnSpc>
              <a:spcBef>
                <a:spcPts val="1000"/>
              </a:spcBef>
              <a:spcAft>
                <a:spcPts val="0"/>
              </a:spcAft>
              <a:buClr>
                <a:schemeClr val="dk1"/>
              </a:buClr>
              <a:buSzPts val="2800"/>
              <a:buChar char="•"/>
            </a:pPr>
            <a:r>
              <a:rPr lang="en-US"/>
              <a:t>Time Managment,</a:t>
            </a:r>
            <a:endParaRPr/>
          </a:p>
          <a:p>
            <a:pPr indent="-228600" lvl="0" marL="228600" rtl="0" algn="l">
              <a:lnSpc>
                <a:spcPct val="90000"/>
              </a:lnSpc>
              <a:spcBef>
                <a:spcPts val="1000"/>
              </a:spcBef>
              <a:spcAft>
                <a:spcPts val="0"/>
              </a:spcAft>
              <a:buClr>
                <a:schemeClr val="dk1"/>
              </a:buClr>
              <a:buSzPts val="2800"/>
              <a:buChar char="•"/>
            </a:pPr>
            <a:r>
              <a:rPr lang="en-US"/>
              <a:t>Logistics and Supply Chain Management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Generic Domains</a:t>
            </a:r>
            <a:endParaRPr>
              <a:solidFill>
                <a:srgbClr val="DD7E0E"/>
              </a:solidFill>
            </a:endParaRPr>
          </a:p>
        </p:txBody>
      </p:sp>
      <p:sp>
        <p:nvSpPr>
          <p:cNvPr id="343" name="Google Shape;343;p4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Inventory Management </a:t>
            </a:r>
            <a:endParaRPr/>
          </a:p>
          <a:p>
            <a:pPr indent="-228600" lvl="0" marL="228600" rtl="0" algn="l">
              <a:lnSpc>
                <a:spcPct val="90000"/>
              </a:lnSpc>
              <a:spcBef>
                <a:spcPts val="1000"/>
              </a:spcBef>
              <a:spcAft>
                <a:spcPts val="0"/>
              </a:spcAft>
              <a:buClr>
                <a:schemeClr val="dk1"/>
              </a:buClr>
              <a:buSzPts val="2800"/>
              <a:buChar char="•"/>
            </a:pPr>
            <a:r>
              <a:rPr lang="en-US"/>
              <a:t>Authorization And Authentication Management</a:t>
            </a:r>
            <a:endParaRPr/>
          </a:p>
          <a:p>
            <a:pPr indent="-228600" lvl="0" marL="228600" rtl="0" algn="l">
              <a:lnSpc>
                <a:spcPct val="90000"/>
              </a:lnSpc>
              <a:spcBef>
                <a:spcPts val="1000"/>
              </a:spcBef>
              <a:spcAft>
                <a:spcPts val="0"/>
              </a:spcAft>
              <a:buClr>
                <a:schemeClr val="dk1"/>
              </a:buClr>
              <a:buSzPts val="2800"/>
              <a:buChar char="•"/>
            </a:pPr>
            <a:r>
              <a:rPr lang="en-US"/>
              <a:t>Payment Management</a:t>
            </a:r>
            <a:endParaRPr/>
          </a:p>
          <a:p>
            <a:pPr indent="-228600" lvl="0" marL="228600" rtl="0" algn="l">
              <a:lnSpc>
                <a:spcPct val="90000"/>
              </a:lnSpc>
              <a:spcBef>
                <a:spcPts val="1000"/>
              </a:spcBef>
              <a:spcAft>
                <a:spcPts val="0"/>
              </a:spcAft>
              <a:buClr>
                <a:schemeClr val="dk1"/>
              </a:buClr>
              <a:buSzPts val="2800"/>
              <a:buChar char="•"/>
            </a:pPr>
            <a:r>
              <a:rPr lang="en-US"/>
              <a:t>Time Management,</a:t>
            </a:r>
            <a:endParaRPr/>
          </a:p>
          <a:p>
            <a:pPr indent="-228600" lvl="0" marL="228600" rtl="0" algn="l">
              <a:lnSpc>
                <a:spcPct val="90000"/>
              </a:lnSpc>
              <a:spcBef>
                <a:spcPts val="1000"/>
              </a:spcBef>
              <a:spcAft>
                <a:spcPts val="0"/>
              </a:spcAft>
              <a:buClr>
                <a:schemeClr val="dk1"/>
              </a:buClr>
              <a:buSzPts val="2800"/>
              <a:buChar char="•"/>
            </a:pPr>
            <a:r>
              <a:rPr lang="en-US"/>
              <a:t>Logistics and Supply Chain Management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Sigorta Domain</a:t>
            </a:r>
            <a:endParaRPr>
              <a:solidFill>
                <a:srgbClr val="DD7E0E"/>
              </a:solidFill>
            </a:endParaRPr>
          </a:p>
        </p:txBody>
      </p:sp>
      <p:sp>
        <p:nvSpPr>
          <p:cNvPr id="350" name="Google Shape;350;p4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351" name="Google Shape;351;p45"/>
          <p:cNvSpPr/>
          <p:nvPr/>
        </p:nvSpPr>
        <p:spPr>
          <a:xfrm>
            <a:off x="4539761" y="1295545"/>
            <a:ext cx="3112477" cy="1178170"/>
          </a:xfrm>
          <a:prstGeom prst="rect">
            <a:avLst/>
          </a:prstGeom>
          <a:solidFill>
            <a:srgbClr val="FF0000"/>
          </a:solidFill>
          <a:ln cap="flat" cmpd="sng" w="12700">
            <a:solidFill>
              <a:srgbClr val="36425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Policy Management</a:t>
            </a:r>
            <a:endParaRPr/>
          </a:p>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Core</a:t>
            </a:r>
            <a:endParaRPr b="0" i="0" sz="1800" u="none" cap="none" strike="noStrike">
              <a:solidFill>
                <a:schemeClr val="lt1"/>
              </a:solidFill>
              <a:latin typeface="Avenir"/>
              <a:ea typeface="Avenir"/>
              <a:cs typeface="Avenir"/>
              <a:sym typeface="Avenir"/>
            </a:endParaRPr>
          </a:p>
        </p:txBody>
      </p:sp>
      <p:sp>
        <p:nvSpPr>
          <p:cNvPr id="352" name="Google Shape;352;p45"/>
          <p:cNvSpPr/>
          <p:nvPr/>
        </p:nvSpPr>
        <p:spPr>
          <a:xfrm>
            <a:off x="2857497" y="2604884"/>
            <a:ext cx="3112477" cy="1178170"/>
          </a:xfrm>
          <a:prstGeom prst="rect">
            <a:avLst/>
          </a:prstGeom>
          <a:solidFill>
            <a:srgbClr val="7C9263"/>
          </a:solidFill>
          <a:ln cap="flat" cmpd="sng" w="12700">
            <a:solidFill>
              <a:srgbClr val="36425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Araç Sigortası</a:t>
            </a:r>
            <a:endParaRPr/>
          </a:p>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(Sub Core) </a:t>
            </a:r>
            <a:endParaRPr b="0" i="0" sz="1800" u="none" cap="none" strike="noStrike">
              <a:solidFill>
                <a:schemeClr val="lt1"/>
              </a:solidFill>
              <a:latin typeface="Avenir"/>
              <a:ea typeface="Avenir"/>
              <a:cs typeface="Avenir"/>
              <a:sym typeface="Avenir"/>
            </a:endParaRPr>
          </a:p>
        </p:txBody>
      </p:sp>
      <p:sp>
        <p:nvSpPr>
          <p:cNvPr id="353" name="Google Shape;353;p45"/>
          <p:cNvSpPr/>
          <p:nvPr/>
        </p:nvSpPr>
        <p:spPr>
          <a:xfrm>
            <a:off x="838200" y="3919593"/>
            <a:ext cx="3112477" cy="1178170"/>
          </a:xfrm>
          <a:prstGeom prst="rect">
            <a:avLst/>
          </a:prstGeom>
          <a:solidFill>
            <a:srgbClr val="DFCE04"/>
          </a:solidFill>
          <a:ln cap="flat" cmpd="sng" w="12700">
            <a:solidFill>
              <a:srgbClr val="36425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venir"/>
                <a:ea typeface="Avenir"/>
                <a:cs typeface="Avenir"/>
                <a:sym typeface="Avenir"/>
              </a:rPr>
              <a:t>Hasar Yönetimi </a:t>
            </a:r>
            <a:endParaRPr/>
          </a:p>
          <a:p>
            <a:pPr indent="0" lvl="0" marL="0" marR="0" rtl="0" algn="ctr">
              <a:spcBef>
                <a:spcPts val="0"/>
              </a:spcBef>
              <a:spcAft>
                <a:spcPts val="0"/>
              </a:spcAft>
              <a:buNone/>
            </a:pPr>
            <a:r>
              <a:rPr b="0" i="0" lang="en-US" sz="1800" u="none" cap="none" strike="noStrike">
                <a:solidFill>
                  <a:schemeClr val="dk1"/>
                </a:solidFill>
                <a:latin typeface="Avenir"/>
                <a:ea typeface="Avenir"/>
                <a:cs typeface="Avenir"/>
                <a:sym typeface="Avenir"/>
              </a:rPr>
              <a:t>(Support)</a:t>
            </a:r>
            <a:endParaRPr/>
          </a:p>
        </p:txBody>
      </p:sp>
      <p:sp>
        <p:nvSpPr>
          <p:cNvPr id="354" name="Google Shape;354;p45"/>
          <p:cNvSpPr/>
          <p:nvPr/>
        </p:nvSpPr>
        <p:spPr>
          <a:xfrm>
            <a:off x="6450628" y="2607312"/>
            <a:ext cx="3112477" cy="1178170"/>
          </a:xfrm>
          <a:prstGeom prst="rect">
            <a:avLst/>
          </a:prstGeom>
          <a:solidFill>
            <a:srgbClr val="7C9263"/>
          </a:solidFill>
          <a:ln cap="flat" cmpd="sng" w="12700">
            <a:solidFill>
              <a:srgbClr val="36425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Konut Sigortası</a:t>
            </a:r>
            <a:endParaRPr/>
          </a:p>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(Sub Core)</a:t>
            </a:r>
            <a:endParaRPr/>
          </a:p>
        </p:txBody>
      </p:sp>
      <p:sp>
        <p:nvSpPr>
          <p:cNvPr id="355" name="Google Shape;355;p45"/>
          <p:cNvSpPr/>
          <p:nvPr/>
        </p:nvSpPr>
        <p:spPr>
          <a:xfrm>
            <a:off x="8006866" y="3978084"/>
            <a:ext cx="3112477" cy="1178170"/>
          </a:xfrm>
          <a:prstGeom prst="rect">
            <a:avLst/>
          </a:prstGeom>
          <a:solidFill>
            <a:srgbClr val="DFCE04"/>
          </a:solidFill>
          <a:ln cap="flat" cmpd="sng" w="12700">
            <a:solidFill>
              <a:srgbClr val="36425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Avenir"/>
                <a:ea typeface="Avenir"/>
                <a:cs typeface="Avenir"/>
                <a:sym typeface="Avenir"/>
              </a:rPr>
              <a:t>Hasar Denetimi</a:t>
            </a:r>
            <a:endParaRPr/>
          </a:p>
          <a:p>
            <a:pPr indent="0" lvl="0" marL="0" marR="0" rtl="0" algn="ctr">
              <a:spcBef>
                <a:spcPts val="0"/>
              </a:spcBef>
              <a:spcAft>
                <a:spcPts val="0"/>
              </a:spcAft>
              <a:buNone/>
            </a:pPr>
            <a:r>
              <a:rPr b="0" i="0" lang="en-US" sz="1800" u="none" cap="none" strike="noStrike">
                <a:solidFill>
                  <a:schemeClr val="dk1"/>
                </a:solidFill>
                <a:latin typeface="Avenir"/>
                <a:ea typeface="Avenir"/>
                <a:cs typeface="Avenir"/>
                <a:sym typeface="Avenir"/>
              </a:rPr>
              <a:t>(Support)</a:t>
            </a:r>
            <a:endParaRPr/>
          </a:p>
        </p:txBody>
      </p:sp>
      <p:sp>
        <p:nvSpPr>
          <p:cNvPr id="356" name="Google Shape;356;p45"/>
          <p:cNvSpPr/>
          <p:nvPr/>
        </p:nvSpPr>
        <p:spPr>
          <a:xfrm>
            <a:off x="6292364" y="5440768"/>
            <a:ext cx="3112477" cy="1178170"/>
          </a:xfrm>
          <a:prstGeom prst="rect">
            <a:avLst/>
          </a:prstGeom>
          <a:solidFill>
            <a:srgbClr val="7153A0"/>
          </a:solidFill>
          <a:ln cap="flat" cmpd="sng" w="12700">
            <a:solidFill>
              <a:srgbClr val="36425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Finansl Matematik ve Risk Yönetimi (GD)</a:t>
            </a:r>
            <a:endParaRPr/>
          </a:p>
        </p:txBody>
      </p:sp>
      <p:sp>
        <p:nvSpPr>
          <p:cNvPr id="357" name="Google Shape;357;p45"/>
          <p:cNvSpPr/>
          <p:nvPr/>
        </p:nvSpPr>
        <p:spPr>
          <a:xfrm>
            <a:off x="3045065" y="5458353"/>
            <a:ext cx="3112477" cy="1178170"/>
          </a:xfrm>
          <a:prstGeom prst="rect">
            <a:avLst/>
          </a:prstGeom>
          <a:solidFill>
            <a:srgbClr val="7153A0"/>
          </a:solidFill>
          <a:ln cap="flat" cmpd="sng" w="12700">
            <a:solidFill>
              <a:srgbClr val="36425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Müşteri ilişkileri Yönetimi</a:t>
            </a:r>
            <a:endParaRPr/>
          </a:p>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(GD)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Örnek Senaryo</a:t>
            </a:r>
            <a:endParaRPr>
              <a:solidFill>
                <a:srgbClr val="DD7E0E"/>
              </a:solidFill>
            </a:endParaRPr>
          </a:p>
        </p:txBody>
      </p:sp>
      <p:sp>
        <p:nvSpPr>
          <p:cNvPr id="364" name="Google Shape;364;p4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365" name="Google Shape;365;p46"/>
          <p:cNvSpPr txBox="1"/>
          <p:nvPr/>
        </p:nvSpPr>
        <p:spPr>
          <a:xfrm>
            <a:off x="990600" y="1825625"/>
            <a:ext cx="10515600" cy="3859742"/>
          </a:xfrm>
          <a:prstGeom prst="rect">
            <a:avLst/>
          </a:prstGeom>
          <a:noFill/>
          <a:ln>
            <a:noFill/>
          </a:ln>
        </p:spPr>
        <p:txBody>
          <a:bodyPr anchorCtr="0" anchor="t" bIns="45700" lIns="91425" spcFirstLastPara="1" rIns="91425" wrap="square" tIns="45700">
            <a:normAutofit fontScale="92500" lnSpcReduction="10000"/>
          </a:bodyPr>
          <a:lstStyle/>
          <a:p>
            <a:pPr indent="-64135" lvl="0" marL="228600" marR="0" rtl="0" algn="l">
              <a:lnSpc>
                <a:spcPct val="90000"/>
              </a:lnSpc>
              <a:spcBef>
                <a:spcPts val="0"/>
              </a:spcBef>
              <a:spcAft>
                <a:spcPts val="0"/>
              </a:spcAft>
              <a:buClr>
                <a:schemeClr val="dk1"/>
              </a:buClr>
              <a:buSzPct val="100000"/>
              <a:buFont typeface="Arial"/>
              <a:buNone/>
            </a:pPr>
            <a:r>
              <a:t/>
            </a:r>
            <a:endParaRPr b="0" i="0" sz="2800" u="none" cap="none" strike="noStrike">
              <a:solidFill>
                <a:schemeClr val="dk1"/>
              </a:solidFill>
              <a:latin typeface="Avenir"/>
              <a:ea typeface="Avenir"/>
              <a:cs typeface="Avenir"/>
              <a:sym typeface="Avenir"/>
            </a:endParaRPr>
          </a:p>
          <a:p>
            <a:pPr indent="0" lvl="0" marL="0" marR="0" rtl="0" algn="l">
              <a:lnSpc>
                <a:spcPct val="90000"/>
              </a:lnSpc>
              <a:spcBef>
                <a:spcPts val="1000"/>
              </a:spcBef>
              <a:spcAft>
                <a:spcPts val="0"/>
              </a:spcAft>
              <a:buClr>
                <a:schemeClr val="dk1"/>
              </a:buClr>
              <a:buSzPct val="100000"/>
              <a:buFont typeface="Arial"/>
              <a:buNone/>
            </a:pPr>
            <a:r>
              <a:rPr b="0" i="0" lang="en-US" sz="2800" u="none" cap="none" strike="noStrike">
                <a:solidFill>
                  <a:schemeClr val="dk1"/>
                </a:solidFill>
                <a:latin typeface="Avenir"/>
                <a:ea typeface="Avenir"/>
                <a:cs typeface="Avenir"/>
                <a:sym typeface="Avenir"/>
              </a:rPr>
              <a:t>Küçük klinikler için bir EMR (Elektronik Tıbbi Kayıtlar) sistemi oluşturduğumuzu varsayalım. Aşağıdaki alt alanları belirledik:</a:t>
            </a:r>
            <a:endParaRPr/>
          </a:p>
          <a:p>
            <a:pPr indent="-64135"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Avenir"/>
              <a:ea typeface="Avenir"/>
              <a:cs typeface="Avenir"/>
              <a:sym typeface="Avenir"/>
            </a:endParaRPr>
          </a:p>
          <a:p>
            <a:pPr indent="-228600" lvl="0" marL="228600" marR="0" rtl="0" algn="l">
              <a:lnSpc>
                <a:spcPct val="90000"/>
              </a:lnSpc>
              <a:spcBef>
                <a:spcPts val="1000"/>
              </a:spcBef>
              <a:spcAft>
                <a:spcPts val="0"/>
              </a:spcAft>
              <a:buClr>
                <a:schemeClr val="dk1"/>
              </a:buClr>
              <a:buSzPct val="100000"/>
              <a:buFont typeface="Arial"/>
              <a:buChar char="•"/>
            </a:pPr>
            <a:r>
              <a:rPr b="0" i="0" lang="en-US" sz="2800" u="none" cap="none" strike="noStrike">
                <a:solidFill>
                  <a:schemeClr val="dk1"/>
                </a:solidFill>
                <a:latin typeface="Avenir"/>
                <a:ea typeface="Avenir"/>
                <a:cs typeface="Avenir"/>
                <a:sym typeface="Avenir"/>
              </a:rPr>
              <a:t>Hasta tıbbi kayıtlarını yönetmek için Hasta Kayıtları</a:t>
            </a:r>
            <a:r>
              <a:rPr b="0" i="0" lang="en-US" sz="2800" u="none" cap="none" strike="noStrike">
                <a:solidFill>
                  <a:srgbClr val="DD7E0E"/>
                </a:solidFill>
                <a:latin typeface="Avenir"/>
                <a:ea typeface="Avenir"/>
                <a:cs typeface="Avenir"/>
                <a:sym typeface="Avenir"/>
              </a:rPr>
              <a:t>(Patient Records) (kişisel bilgiler, tıbbi geçmiş, vb.).</a:t>
            </a:r>
            <a:endParaRPr/>
          </a:p>
          <a:p>
            <a:pPr indent="-64135"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Avenir"/>
              <a:ea typeface="Avenir"/>
              <a:cs typeface="Avenir"/>
              <a:sym typeface="Avenir"/>
            </a:endParaRPr>
          </a:p>
          <a:p>
            <a:pPr indent="-228600" lvl="0" marL="228600" marR="0" rtl="0" algn="l">
              <a:lnSpc>
                <a:spcPct val="90000"/>
              </a:lnSpc>
              <a:spcBef>
                <a:spcPts val="1000"/>
              </a:spcBef>
              <a:spcAft>
                <a:spcPts val="0"/>
              </a:spcAft>
              <a:buClr>
                <a:schemeClr val="dk1"/>
              </a:buClr>
              <a:buSzPct val="100000"/>
              <a:buFont typeface="Arial"/>
              <a:buChar char="•"/>
            </a:pPr>
            <a:r>
              <a:rPr b="0" i="0" lang="en-US" sz="2800" u="none" cap="none" strike="noStrike">
                <a:solidFill>
                  <a:schemeClr val="dk1"/>
                </a:solidFill>
                <a:latin typeface="Avenir"/>
                <a:ea typeface="Avenir"/>
                <a:cs typeface="Avenir"/>
                <a:sym typeface="Avenir"/>
              </a:rPr>
              <a:t>Laboratuvar testleri sipariş etmek ve test sonuçlarını yönetmek için laboratuar</a:t>
            </a:r>
            <a:r>
              <a:rPr b="0" i="0" lang="en-US" sz="2800" u="none" cap="none" strike="noStrike">
                <a:solidFill>
                  <a:srgbClr val="DD7E0E"/>
                </a:solidFill>
                <a:latin typeface="Avenir"/>
                <a:ea typeface="Avenir"/>
                <a:cs typeface="Avenir"/>
                <a:sym typeface="Avenir"/>
              </a:rPr>
              <a:t>(Lab).</a:t>
            </a:r>
            <a:endParaRPr/>
          </a:p>
          <a:p>
            <a:pPr indent="-64135"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Avenir"/>
              <a:ea typeface="Avenir"/>
              <a:cs typeface="Avenir"/>
              <a:sym typeface="Avenir"/>
            </a:endParaRPr>
          </a:p>
          <a:p>
            <a:pPr indent="-64135" lvl="0" marL="22860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Avenir"/>
              <a:ea typeface="Avenir"/>
              <a:cs typeface="Avenir"/>
              <a:sym typeface="Avenir"/>
            </a:endParaRPr>
          </a:p>
          <a:p>
            <a:pPr indent="0" lvl="0" marL="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Avenir"/>
              <a:ea typeface="Avenir"/>
              <a:cs typeface="Avenir"/>
              <a:sym typeface="Avenir"/>
            </a:endParaRPr>
          </a:p>
          <a:p>
            <a:pPr indent="0" lvl="0" marL="0" marR="0" rtl="0" algn="l">
              <a:lnSpc>
                <a:spcPct val="90000"/>
              </a:lnSpc>
              <a:spcBef>
                <a:spcPts val="1000"/>
              </a:spcBef>
              <a:spcAft>
                <a:spcPts val="0"/>
              </a:spcAft>
              <a:buClr>
                <a:schemeClr val="dk1"/>
              </a:buClr>
              <a:buSzPct val="100000"/>
              <a:buFont typeface="Arial"/>
              <a:buNone/>
            </a:pPr>
            <a:r>
              <a:t/>
            </a:r>
            <a:endParaRPr b="0" i="0" sz="2800" u="none" cap="none" strike="noStrike">
              <a:solidFill>
                <a:schemeClr val="dk1"/>
              </a:solidFill>
              <a:latin typeface="Avenir"/>
              <a:ea typeface="Avenir"/>
              <a:cs typeface="Avenir"/>
              <a:sym typeface="Aveni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Örnek Senaryo</a:t>
            </a:r>
            <a:endParaRPr>
              <a:solidFill>
                <a:srgbClr val="DD7E0E"/>
              </a:solidFill>
            </a:endParaRPr>
          </a:p>
        </p:txBody>
      </p:sp>
      <p:sp>
        <p:nvSpPr>
          <p:cNvPr id="372" name="Google Shape;372;p4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373" name="Google Shape;373;p47"/>
          <p:cNvSpPr txBox="1"/>
          <p:nvPr/>
        </p:nvSpPr>
        <p:spPr>
          <a:xfrm>
            <a:off x="990600" y="1978025"/>
            <a:ext cx="10515600" cy="3859742"/>
          </a:xfrm>
          <a:prstGeom prst="rect">
            <a:avLst/>
          </a:prstGeom>
          <a:noFill/>
          <a:ln>
            <a:noFill/>
          </a:ln>
        </p:spPr>
        <p:txBody>
          <a:bodyPr anchorCtr="0" anchor="t" bIns="45700" lIns="91425" spcFirstLastPara="1" rIns="91425" wrap="square" tIns="45700">
            <a:normAutofit lnSpcReduction="10000"/>
          </a:bodyPr>
          <a:lstStyle/>
          <a:p>
            <a:pPr indent="-50800" lvl="0" marL="22860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Avenir"/>
              <a:ea typeface="Avenir"/>
              <a:cs typeface="Avenir"/>
              <a:sym typeface="Aveni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Avenir"/>
                <a:ea typeface="Avenir"/>
                <a:cs typeface="Avenir"/>
                <a:sym typeface="Avenir"/>
              </a:rPr>
              <a:t>Hasta kayıtlarına (farklı belgeler, röntgen resimleri, taranmış kağıt belgeler gibi) eklenmiş dosyaları depolamak ve yönetmek için Dosya Arşivi </a:t>
            </a:r>
            <a:r>
              <a:rPr b="0" i="0" lang="en-US" sz="2800" u="none" cap="none" strike="noStrike">
                <a:solidFill>
                  <a:srgbClr val="DD7E0E"/>
                </a:solidFill>
                <a:latin typeface="Avenir"/>
                <a:ea typeface="Avenir"/>
                <a:cs typeface="Avenir"/>
                <a:sym typeface="Avenir"/>
              </a:rPr>
              <a:t>(File Archive).</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venir"/>
              <a:ea typeface="Avenir"/>
              <a:cs typeface="Avenir"/>
              <a:sym typeface="Aveni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Avenir"/>
                <a:ea typeface="Avenir"/>
                <a:cs typeface="Avenir"/>
                <a:sym typeface="Avenir"/>
              </a:rPr>
              <a:t>Doğru kişilerin doğru bilgilere erişimini sağlamak için Kimlik Yönetimi </a:t>
            </a:r>
            <a:r>
              <a:rPr b="0" i="0" lang="en-US" sz="2800" u="none" cap="none" strike="noStrike">
                <a:solidFill>
                  <a:srgbClr val="DD7E0E"/>
                </a:solidFill>
                <a:latin typeface="Avenir"/>
                <a:ea typeface="Avenir"/>
                <a:cs typeface="Avenir"/>
                <a:sym typeface="Avenir"/>
              </a:rPr>
              <a:t>(Identity Management).</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rgbClr val="DD7E0E"/>
              </a:solidFill>
              <a:latin typeface="Avenir"/>
              <a:ea typeface="Avenir"/>
              <a:cs typeface="Avenir"/>
              <a:sym typeface="Aveni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Avenir"/>
                <a:ea typeface="Avenir"/>
                <a:cs typeface="Avenir"/>
                <a:sym typeface="Avenir"/>
              </a:rPr>
              <a:t>Randevuları planlamak için planlama</a:t>
            </a:r>
            <a:r>
              <a:rPr b="0" i="0" lang="en-US" sz="2800" u="none" cap="none" strike="noStrike">
                <a:solidFill>
                  <a:srgbClr val="DD7E0E"/>
                </a:solidFill>
                <a:latin typeface="Avenir"/>
                <a:ea typeface="Avenir"/>
                <a:cs typeface="Avenir"/>
                <a:sym typeface="Avenir"/>
              </a:rPr>
              <a:t>(Scheduling ).</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rgbClr val="DD7E0E"/>
              </a:solidFill>
              <a:latin typeface="Avenir"/>
              <a:ea typeface="Avenir"/>
              <a:cs typeface="Avenir"/>
              <a:sym typeface="Aveni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venir"/>
              <a:ea typeface="Avenir"/>
              <a:cs typeface="Avenir"/>
              <a:sym typeface="Aveni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venir"/>
              <a:ea typeface="Avenir"/>
              <a:cs typeface="Avenir"/>
              <a:sym typeface="Aveni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Avenir"/>
              <a:ea typeface="Avenir"/>
              <a:cs typeface="Avenir"/>
              <a:sym typeface="Aveni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EMR Domain</a:t>
            </a:r>
            <a:endParaRPr>
              <a:solidFill>
                <a:srgbClr val="DD7E0E"/>
              </a:solidFill>
            </a:endParaRPr>
          </a:p>
        </p:txBody>
      </p:sp>
      <p:sp>
        <p:nvSpPr>
          <p:cNvPr id="380" name="Google Shape;380;p4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A close-up of several ovals&#10;&#10;Description automatically generated" id="381" name="Google Shape;381;p48"/>
          <p:cNvPicPr preferRelativeResize="0"/>
          <p:nvPr/>
        </p:nvPicPr>
        <p:blipFill rotWithShape="1">
          <a:blip r:embed="rId3">
            <a:alphaModFix/>
          </a:blip>
          <a:srcRect b="0" l="0" r="0" t="0"/>
          <a:stretch/>
        </p:blipFill>
        <p:spPr>
          <a:xfrm>
            <a:off x="2206933" y="1825625"/>
            <a:ext cx="7778133" cy="43480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Bounded Context</a:t>
            </a:r>
            <a:endParaRPr/>
          </a:p>
        </p:txBody>
      </p:sp>
      <p:sp>
        <p:nvSpPr>
          <p:cNvPr id="387" name="Google Shape;387;p4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Bounded Context, birbirlerinden ayrılmış ve sınırları belirlenmiş yapılanmalardır.</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«Domain Driven Design tasarımındaki en merkezi prensip </a:t>
            </a:r>
            <a:r>
              <a:rPr lang="en-US">
                <a:solidFill>
                  <a:srgbClr val="DD7E0E"/>
                </a:solidFill>
              </a:rPr>
              <a:t>Bounded</a:t>
            </a:r>
            <a:r>
              <a:rPr lang="en-US"/>
              <a:t> </a:t>
            </a:r>
            <a:r>
              <a:rPr lang="en-US">
                <a:solidFill>
                  <a:srgbClr val="DD7E0E"/>
                </a:solidFill>
              </a:rPr>
              <a:t>Context</a:t>
            </a:r>
            <a:r>
              <a:rPr lang="en-US"/>
              <a:t>’tir.» Eric Evans</a:t>
            </a:r>
            <a:endParaRPr/>
          </a:p>
          <a:p>
            <a:pPr indent="0" lvl="0" marL="0" rtl="0" algn="l">
              <a:lnSpc>
                <a:spcPct val="90000"/>
              </a:lnSpc>
              <a:spcBef>
                <a:spcPts val="1000"/>
              </a:spcBef>
              <a:spcAft>
                <a:spcPts val="0"/>
              </a:spcAft>
              <a:buClr>
                <a:schemeClr val="dk1"/>
              </a:buClr>
              <a:buSzPts val="2800"/>
              <a:buNone/>
            </a:pPr>
            <a:r>
              <a:t/>
            </a:r>
            <a:endParaRPr>
              <a:solidFill>
                <a:srgbClr val="DD7E0E"/>
              </a:solidFill>
            </a:endParaRPr>
          </a:p>
          <a:p>
            <a:pPr indent="0" lvl="0" marL="0" rtl="0" algn="l">
              <a:lnSpc>
                <a:spcPct val="90000"/>
              </a:lnSpc>
              <a:spcBef>
                <a:spcPts val="1000"/>
              </a:spcBef>
              <a:spcAft>
                <a:spcPts val="0"/>
              </a:spcAft>
              <a:buClr>
                <a:schemeClr val="dk1"/>
              </a:buClr>
              <a:buSzPts val="2800"/>
              <a:buNone/>
            </a:pPr>
            <a:r>
              <a:t/>
            </a:r>
            <a:endParaRPr>
              <a:solidFill>
                <a:srgbClr val="DD7E0E"/>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Bounded Context Neye göre belirlenir ?</a:t>
            </a:r>
            <a:endParaRPr/>
          </a:p>
        </p:txBody>
      </p:sp>
      <p:sp>
        <p:nvSpPr>
          <p:cNvPr id="394" name="Google Shape;394;p5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t/>
            </a:r>
            <a:endParaRPr b="1" sz="2200"/>
          </a:p>
          <a:p>
            <a:pPr indent="-228600" lvl="0" marL="228600" rtl="0" algn="l">
              <a:lnSpc>
                <a:spcPct val="90000"/>
              </a:lnSpc>
              <a:spcBef>
                <a:spcPts val="1000"/>
              </a:spcBef>
              <a:spcAft>
                <a:spcPts val="0"/>
              </a:spcAft>
              <a:buClr>
                <a:schemeClr val="dk1"/>
              </a:buClr>
              <a:buSzPct val="100000"/>
              <a:buChar char="•"/>
            </a:pPr>
            <a:r>
              <a:rPr lang="en-US" sz="2200"/>
              <a:t> Zaman zaman benzer, hatta </a:t>
            </a:r>
            <a:r>
              <a:rPr lang="en-US" sz="2200">
                <a:solidFill>
                  <a:srgbClr val="DD7E0E"/>
                </a:solidFill>
              </a:rPr>
              <a:t>aynı kelimeler farklı anlamlar </a:t>
            </a:r>
            <a:r>
              <a:rPr lang="en-US" sz="2200"/>
              <a:t>ifade etmeye başlayabilir. Dilin tam bu farklılaşmaya başladığı noktalar, bize farklı sınırlar içerisinde bulunduğumuzu işaret ediyor olabilir.</a:t>
            </a:r>
            <a:endParaRPr/>
          </a:p>
          <a:p>
            <a:pPr indent="-99377" lvl="0" marL="228600" rtl="0" algn="l">
              <a:lnSpc>
                <a:spcPct val="90000"/>
              </a:lnSpc>
              <a:spcBef>
                <a:spcPts val="1000"/>
              </a:spcBef>
              <a:spcAft>
                <a:spcPts val="0"/>
              </a:spcAft>
              <a:buClr>
                <a:schemeClr val="dk1"/>
              </a:buClr>
              <a:buSzPct val="100000"/>
              <a:buNone/>
            </a:pPr>
            <a:r>
              <a:t/>
            </a:r>
            <a:endParaRPr sz="2200"/>
          </a:p>
          <a:p>
            <a:pPr indent="-228600" lvl="0" marL="228600" rtl="0" algn="l">
              <a:lnSpc>
                <a:spcPct val="90000"/>
              </a:lnSpc>
              <a:spcBef>
                <a:spcPts val="1000"/>
              </a:spcBef>
              <a:spcAft>
                <a:spcPts val="0"/>
              </a:spcAft>
              <a:buClr>
                <a:schemeClr val="dk1"/>
              </a:buClr>
              <a:buSzPct val="100000"/>
              <a:buChar char="•"/>
            </a:pPr>
            <a:r>
              <a:rPr lang="en-US" sz="2200"/>
              <a:t>Hangi seviyede </a:t>
            </a:r>
            <a:r>
              <a:rPr lang="en-US" sz="2200">
                <a:solidFill>
                  <a:srgbClr val="DD7E0E"/>
                </a:solidFill>
              </a:rPr>
              <a:t>transactional</a:t>
            </a:r>
            <a:r>
              <a:rPr lang="en-US" sz="2200"/>
              <a:t> tutarlılığa ihtiyaç olduğunu gözlemlemek.</a:t>
            </a:r>
            <a:endParaRPr sz="2200"/>
          </a:p>
          <a:p>
            <a:pPr indent="-99377" lvl="0" marL="228600" rtl="0" algn="l">
              <a:lnSpc>
                <a:spcPct val="90000"/>
              </a:lnSpc>
              <a:spcBef>
                <a:spcPts val="1000"/>
              </a:spcBef>
              <a:spcAft>
                <a:spcPts val="0"/>
              </a:spcAft>
              <a:buClr>
                <a:schemeClr val="dk1"/>
              </a:buClr>
              <a:buSzPct val="100000"/>
              <a:buNone/>
            </a:pPr>
            <a:r>
              <a:t/>
            </a:r>
            <a:endParaRPr sz="2200"/>
          </a:p>
          <a:p>
            <a:pPr indent="-228600" lvl="0" marL="228600" rtl="0" algn="l">
              <a:lnSpc>
                <a:spcPct val="90000"/>
              </a:lnSpc>
              <a:spcBef>
                <a:spcPts val="1000"/>
              </a:spcBef>
              <a:spcAft>
                <a:spcPts val="0"/>
              </a:spcAft>
              <a:buClr>
                <a:schemeClr val="dk1"/>
              </a:buClr>
              <a:buSzPct val="100000"/>
              <a:buChar char="•"/>
            </a:pPr>
            <a:r>
              <a:rPr lang="en-US" sz="2200"/>
              <a:t>Yapılacak işin altyapısına göre değil, </a:t>
            </a:r>
            <a:r>
              <a:rPr lang="en-US" sz="2200">
                <a:solidFill>
                  <a:srgbClr val="DD7E0E"/>
                </a:solidFill>
              </a:rPr>
              <a:t>iş mantığına </a:t>
            </a:r>
            <a:r>
              <a:rPr lang="en-US" sz="2200"/>
              <a:t>göre belirlenmelidir.</a:t>
            </a:r>
            <a:endParaRPr sz="2200"/>
          </a:p>
          <a:p>
            <a:pPr indent="-99377" lvl="0" marL="228600" rtl="0" algn="l">
              <a:lnSpc>
                <a:spcPct val="90000"/>
              </a:lnSpc>
              <a:spcBef>
                <a:spcPts val="1000"/>
              </a:spcBef>
              <a:spcAft>
                <a:spcPts val="0"/>
              </a:spcAft>
              <a:buClr>
                <a:schemeClr val="dk1"/>
              </a:buClr>
              <a:buSzPct val="100000"/>
              <a:buNone/>
            </a:pPr>
            <a:r>
              <a:t/>
            </a:r>
            <a:endParaRPr sz="2200"/>
          </a:p>
          <a:p>
            <a:pPr indent="-99377" lvl="0" marL="228600" rtl="0" algn="l">
              <a:lnSpc>
                <a:spcPct val="90000"/>
              </a:lnSpc>
              <a:spcBef>
                <a:spcPts val="1000"/>
              </a:spcBef>
              <a:spcAft>
                <a:spcPts val="0"/>
              </a:spcAft>
              <a:buClr>
                <a:schemeClr val="dk1"/>
              </a:buClr>
              <a:buSzPct val="100000"/>
              <a:buNone/>
            </a:pPr>
            <a:r>
              <a:t/>
            </a:r>
            <a:endParaRPr sz="2200"/>
          </a:p>
          <a:p>
            <a:pPr indent="0" lvl="0" marL="0" rtl="0" algn="l">
              <a:lnSpc>
                <a:spcPct val="90000"/>
              </a:lnSpc>
              <a:spcBef>
                <a:spcPts val="1000"/>
              </a:spcBef>
              <a:spcAft>
                <a:spcPts val="0"/>
              </a:spcAft>
              <a:buClr>
                <a:schemeClr val="dk1"/>
              </a:buClr>
              <a:buSzPct val="100000"/>
              <a:buNone/>
            </a:pPr>
            <a:r>
              <a:rPr lang="en-US" sz="2000"/>
              <a:t>«</a:t>
            </a:r>
            <a:r>
              <a:rPr b="0" i="1" lang="en-US" sz="2000"/>
              <a:t>Domain Driven Design ile çalışmak </a:t>
            </a:r>
            <a:r>
              <a:rPr b="0" i="1" lang="en-US" sz="2000">
                <a:solidFill>
                  <a:srgbClr val="FFA500"/>
                </a:solidFill>
              </a:rPr>
              <a:t>heuristic (sezgisel) </a:t>
            </a:r>
            <a:r>
              <a:rPr b="0" i="1" lang="en-US" sz="2000"/>
              <a:t>olabilmeyi gerektirir</a:t>
            </a:r>
            <a:r>
              <a:rPr b="0" i="1" lang="en-US" sz="2000">
                <a:solidFill>
                  <a:srgbClr val="FFA500"/>
                </a:solidFill>
              </a:rPr>
              <a:t>.»</a:t>
            </a:r>
            <a:endParaRPr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Bounded Context </a:t>
            </a:r>
            <a:endParaRPr/>
          </a:p>
        </p:txBody>
      </p:sp>
      <p:sp>
        <p:nvSpPr>
          <p:cNvPr id="401" name="Google Shape;401;p5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Bir alanın mantıksal sınırlarını ve kapsamını belirlemede kullanılan bir kavram.</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A diagram of a customer service&#10;&#10;Description automatically generated" id="402" name="Google Shape;402;p51"/>
          <p:cNvPicPr preferRelativeResize="0"/>
          <p:nvPr/>
        </p:nvPicPr>
        <p:blipFill rotWithShape="1">
          <a:blip r:embed="rId3">
            <a:alphaModFix/>
          </a:blip>
          <a:srcRect b="0" l="0" r="0" t="0"/>
          <a:stretch/>
        </p:blipFill>
        <p:spPr>
          <a:xfrm>
            <a:off x="2696309" y="2925343"/>
            <a:ext cx="5498123" cy="356753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Bounded Context </a:t>
            </a:r>
            <a:endParaRPr/>
          </a:p>
        </p:txBody>
      </p:sp>
      <p:sp>
        <p:nvSpPr>
          <p:cNvPr id="409" name="Google Shape;409;p5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Aynı terimlerin ve alanların, farklı bağlamlarda farklı anlamlara gelebileceği durumlar için bir çerçeve sunar.</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Farklı contextler arasında net bir ayrım sağlar</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Her bir context bağımsız bir şekilde geliştirilebilir. İzolasyon sağlar.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Contextler arası nasıl iletişim kurulacağını belirlememizi sağlar.</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Bounded Context İzolasyon Seviyeleri</a:t>
            </a:r>
            <a:endParaRPr>
              <a:solidFill>
                <a:srgbClr val="DD7E0E"/>
              </a:solidFill>
            </a:endParaRPr>
          </a:p>
        </p:txBody>
      </p:sp>
      <p:sp>
        <p:nvSpPr>
          <p:cNvPr id="416" name="Google Shape;416;p5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1.Seviye </a:t>
            </a:r>
            <a:r>
              <a:rPr lang="en-US">
                <a:solidFill>
                  <a:srgbClr val="DD7E0E"/>
                </a:solidFill>
              </a:rPr>
              <a:t>(Folder Based)</a:t>
            </a:r>
            <a:endParaRPr/>
          </a:p>
          <a:p>
            <a:pPr indent="-228600" lvl="0" marL="228600" rtl="0" algn="l">
              <a:lnSpc>
                <a:spcPct val="90000"/>
              </a:lnSpc>
              <a:spcBef>
                <a:spcPts val="1000"/>
              </a:spcBef>
              <a:spcAft>
                <a:spcPts val="0"/>
              </a:spcAft>
              <a:buClr>
                <a:schemeClr val="dk1"/>
              </a:buClr>
              <a:buSzPts val="2800"/>
              <a:buChar char="•"/>
            </a:pPr>
            <a:r>
              <a:rPr lang="en-US"/>
              <a:t>2.Seviye </a:t>
            </a:r>
            <a:r>
              <a:rPr lang="en-US">
                <a:solidFill>
                  <a:srgbClr val="DD7E0E"/>
                </a:solidFill>
              </a:rPr>
              <a:t>(Class Lib Based) </a:t>
            </a:r>
            <a:endParaRPr/>
          </a:p>
          <a:p>
            <a:pPr indent="-228600" lvl="0" marL="228600" rtl="0" algn="l">
              <a:lnSpc>
                <a:spcPct val="90000"/>
              </a:lnSpc>
              <a:spcBef>
                <a:spcPts val="1000"/>
              </a:spcBef>
              <a:spcAft>
                <a:spcPts val="0"/>
              </a:spcAft>
              <a:buClr>
                <a:schemeClr val="dk1"/>
              </a:buClr>
              <a:buSzPts val="2800"/>
              <a:buChar char="•"/>
            </a:pPr>
            <a:r>
              <a:rPr lang="en-US"/>
              <a:t>3.Seviye (</a:t>
            </a:r>
            <a:r>
              <a:rPr lang="en-US">
                <a:solidFill>
                  <a:srgbClr val="DD7E0E"/>
                </a:solidFill>
              </a:rPr>
              <a:t>Microservice Based)</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Birbirleri ile alakalı gördüğümüz, çok ilişkisi olduğunu düşündüğünüz </a:t>
            </a:r>
            <a:r>
              <a:rPr b="1" lang="en-US">
                <a:solidFill>
                  <a:srgbClr val="DD7E0E"/>
                </a:solidFill>
              </a:rPr>
              <a:t>bounded contextleri</a:t>
            </a:r>
            <a:r>
              <a:rPr lang="en-US"/>
              <a:t> tek microservice yapabiliriz.</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Context Mapping</a:t>
            </a:r>
            <a:endParaRPr>
              <a:solidFill>
                <a:srgbClr val="DD7E0E"/>
              </a:solidFill>
            </a:endParaRPr>
          </a:p>
        </p:txBody>
      </p:sp>
      <p:sp>
        <p:nvSpPr>
          <p:cNvPr id="423" name="Google Shape;423;p5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Context mapping, farklı bounded context’ler arasındaki ilişkileri ve etkileşimleri gösteren bir tekniktir. </a:t>
            </a:r>
            <a:endParaRPr/>
          </a:p>
          <a:p>
            <a:pPr indent="0" lvl="0" marL="0" rtl="0" algn="l">
              <a:lnSpc>
                <a:spcPct val="90000"/>
              </a:lnSpc>
              <a:spcBef>
                <a:spcPts val="1000"/>
              </a:spcBef>
              <a:spcAft>
                <a:spcPts val="0"/>
              </a:spcAft>
              <a:buClr>
                <a:schemeClr val="dk1"/>
              </a:buClr>
              <a:buSzPts val="2800"/>
              <a:buNone/>
            </a:pPr>
            <a:r>
              <a:rPr lang="en-US"/>
              <a:t>Amaç, farklı bounded contextler arasında uyumu sağlamak, uyumsuzluk durumlarına ele almak için bir çerçeve sunmaktır. </a:t>
            </a:r>
            <a:endParaRPr/>
          </a:p>
          <a:p>
            <a:pPr indent="0" lvl="0" marL="0" rtl="0" algn="l">
              <a:lnSpc>
                <a:spcPct val="90000"/>
              </a:lnSpc>
              <a:spcBef>
                <a:spcPts val="1000"/>
              </a:spcBef>
              <a:spcAft>
                <a:spcPts val="0"/>
              </a:spcAft>
              <a:buClr>
                <a:schemeClr val="dk1"/>
              </a:buClr>
              <a:buSzPts val="2800"/>
              <a:buNone/>
            </a:pPr>
            <a:r>
              <a:t/>
            </a:r>
            <a:endParaRPr/>
          </a:p>
        </p:txBody>
      </p:sp>
      <p:pic>
        <p:nvPicPr>
          <p:cNvPr descr="Diagram of a diagram of a company&#10;&#10;Description automatically generated" id="424" name="Google Shape;424;p54"/>
          <p:cNvPicPr preferRelativeResize="0"/>
          <p:nvPr/>
        </p:nvPicPr>
        <p:blipFill rotWithShape="1">
          <a:blip r:embed="rId3">
            <a:alphaModFix/>
          </a:blip>
          <a:srcRect b="0" l="0" r="0" t="0"/>
          <a:stretch/>
        </p:blipFill>
        <p:spPr>
          <a:xfrm>
            <a:off x="3372490" y="3755496"/>
            <a:ext cx="4839525" cy="276817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Context Mapping</a:t>
            </a:r>
            <a:endParaRPr>
              <a:solidFill>
                <a:srgbClr val="DD7E0E"/>
              </a:solidFill>
            </a:endParaRPr>
          </a:p>
        </p:txBody>
      </p:sp>
      <p:sp>
        <p:nvSpPr>
          <p:cNvPr id="431" name="Google Shape;431;p5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Aşağıdaki süreçlerden geçer;</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Bounded Contextlerin tanımlanması </a:t>
            </a:r>
            <a:r>
              <a:rPr lang="en-US">
                <a:solidFill>
                  <a:srgbClr val="DD7E0E"/>
                </a:solidFill>
              </a:rPr>
              <a:t>(Monolith,Micro Service)</a:t>
            </a:r>
            <a:endParaRPr/>
          </a:p>
          <a:p>
            <a:pPr indent="-228600" lvl="0" marL="228600" rtl="0" algn="l">
              <a:lnSpc>
                <a:spcPct val="90000"/>
              </a:lnSpc>
              <a:spcBef>
                <a:spcPts val="1000"/>
              </a:spcBef>
              <a:spcAft>
                <a:spcPts val="0"/>
              </a:spcAft>
              <a:buClr>
                <a:schemeClr val="dk1"/>
              </a:buClr>
              <a:buSzPts val="2800"/>
              <a:buChar char="•"/>
            </a:pPr>
            <a:r>
              <a:rPr lang="en-US"/>
              <a:t>Bounded Contextler arası etkileşim teknikleri </a:t>
            </a:r>
            <a:r>
              <a:rPr lang="en-US">
                <a:solidFill>
                  <a:srgbClr val="DD7E0E"/>
                </a:solidFill>
              </a:rPr>
              <a:t>(Context Mapping)</a:t>
            </a:r>
            <a:endParaRPr/>
          </a:p>
          <a:p>
            <a:pPr indent="-228600" lvl="0" marL="228600" rtl="0" algn="l">
              <a:lnSpc>
                <a:spcPct val="90000"/>
              </a:lnSpc>
              <a:spcBef>
                <a:spcPts val="1000"/>
              </a:spcBef>
              <a:spcAft>
                <a:spcPts val="0"/>
              </a:spcAft>
              <a:buClr>
                <a:schemeClr val="dk1"/>
              </a:buClr>
              <a:buSzPts val="2800"/>
              <a:buChar char="•"/>
            </a:pPr>
            <a:r>
              <a:rPr lang="en-US"/>
              <a:t>İlişki ve Entegrasyon noktalarının belirlenmesi </a:t>
            </a:r>
            <a:r>
              <a:rPr lang="en-US">
                <a:solidFill>
                  <a:srgbClr val="DD7E0E"/>
                </a:solidFill>
              </a:rPr>
              <a:t>(API, Events)</a:t>
            </a:r>
            <a:endParaRPr/>
          </a:p>
          <a:p>
            <a:pPr indent="-228600" lvl="0" marL="228600" rtl="0" algn="l">
              <a:lnSpc>
                <a:spcPct val="90000"/>
              </a:lnSpc>
              <a:spcBef>
                <a:spcPts val="1000"/>
              </a:spcBef>
              <a:spcAft>
                <a:spcPts val="0"/>
              </a:spcAft>
              <a:buClr>
                <a:schemeClr val="dk1"/>
              </a:buClr>
              <a:buSzPts val="2800"/>
              <a:buChar char="•"/>
            </a:pPr>
            <a:r>
              <a:rPr lang="en-US"/>
              <a:t>Sürekli izleme ve güncelleme </a:t>
            </a:r>
            <a:r>
              <a:rPr lang="en-US">
                <a:solidFill>
                  <a:srgbClr val="DD7E0E"/>
                </a:solidFill>
              </a:rPr>
              <a:t>(Bounded Context güncellemesinde Context Map’de güncellenmeli)</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Downstreams Upstreams</a:t>
            </a:r>
            <a:endParaRPr>
              <a:solidFill>
                <a:srgbClr val="DD7E0E"/>
              </a:solidFill>
            </a:endParaRPr>
          </a:p>
        </p:txBody>
      </p:sp>
      <p:sp>
        <p:nvSpPr>
          <p:cNvPr id="438" name="Google Shape;438;p5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595959"/>
              </a:buClr>
              <a:buSzPts val="2800"/>
              <a:buNone/>
            </a:pPr>
            <a:r>
              <a:rPr lang="en-US">
                <a:solidFill>
                  <a:srgbClr val="595959"/>
                </a:solidFill>
              </a:rPr>
              <a:t>Bounded Contextler arasındaki ilişkileri tanımlanın en basit yolu Upstream ve Downstream olmak üzere sınıflandırmaktır.</a:t>
            </a:r>
            <a:endParaRPr/>
          </a:p>
          <a:p>
            <a:pPr indent="0" lvl="0" marL="0" rtl="0" algn="l">
              <a:lnSpc>
                <a:spcPct val="90000"/>
              </a:lnSpc>
              <a:spcBef>
                <a:spcPts val="1000"/>
              </a:spcBef>
              <a:spcAft>
                <a:spcPts val="0"/>
              </a:spcAft>
              <a:buClr>
                <a:schemeClr val="dk1"/>
              </a:buClr>
              <a:buSzPts val="2800"/>
              <a:buNone/>
            </a:pPr>
            <a:r>
              <a:t/>
            </a:r>
            <a:endParaRPr>
              <a:solidFill>
                <a:srgbClr val="595959"/>
              </a:solidFill>
            </a:endParaRPr>
          </a:p>
          <a:p>
            <a:pPr indent="0" lvl="0" marL="0" rtl="0" algn="l">
              <a:lnSpc>
                <a:spcPct val="90000"/>
              </a:lnSpc>
              <a:spcBef>
                <a:spcPts val="1000"/>
              </a:spcBef>
              <a:spcAft>
                <a:spcPts val="0"/>
              </a:spcAft>
              <a:buClr>
                <a:schemeClr val="dk1"/>
              </a:buClr>
              <a:buSzPts val="2800"/>
              <a:buNone/>
            </a:pPr>
            <a:r>
              <a:t/>
            </a:r>
            <a:endParaRPr>
              <a:solidFill>
                <a:srgbClr val="595959"/>
              </a:solidFill>
            </a:endParaRPr>
          </a:p>
        </p:txBody>
      </p:sp>
      <p:pic>
        <p:nvPicPr>
          <p:cNvPr descr="A diagram of a diagram&#10;&#10;Description automatically generated" id="439" name="Google Shape;439;p56"/>
          <p:cNvPicPr preferRelativeResize="0"/>
          <p:nvPr/>
        </p:nvPicPr>
        <p:blipFill rotWithShape="1">
          <a:blip r:embed="rId3">
            <a:alphaModFix/>
          </a:blip>
          <a:srcRect b="0" l="0" r="0" t="0"/>
          <a:stretch/>
        </p:blipFill>
        <p:spPr>
          <a:xfrm>
            <a:off x="2717165" y="3111501"/>
            <a:ext cx="6757669" cy="296389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Downstreams Upstreams</a:t>
            </a:r>
            <a:endParaRPr>
              <a:solidFill>
                <a:srgbClr val="DD7E0E"/>
              </a:solidFill>
            </a:endParaRPr>
          </a:p>
        </p:txBody>
      </p:sp>
      <p:sp>
        <p:nvSpPr>
          <p:cNvPr id="446" name="Google Shape;446;p5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595959"/>
              </a:buClr>
              <a:buSzPts val="2800"/>
              <a:buNone/>
            </a:pPr>
            <a:r>
              <a:rPr lang="en-US">
                <a:solidFill>
                  <a:srgbClr val="595959"/>
                </a:solidFill>
              </a:rPr>
              <a:t>Upstream context’deki bir değişiklik, downstream context </a:t>
            </a:r>
            <a:endParaRPr/>
          </a:p>
          <a:p>
            <a:pPr indent="0" lvl="0" marL="0" rtl="0" algn="l">
              <a:lnSpc>
                <a:spcPct val="90000"/>
              </a:lnSpc>
              <a:spcBef>
                <a:spcPts val="1000"/>
              </a:spcBef>
              <a:spcAft>
                <a:spcPts val="0"/>
              </a:spcAft>
              <a:buClr>
                <a:srgbClr val="595959"/>
              </a:buClr>
              <a:buSzPts val="2800"/>
              <a:buNone/>
            </a:pPr>
            <a:r>
              <a:rPr lang="en-US">
                <a:solidFill>
                  <a:srgbClr val="595959"/>
                </a:solidFill>
              </a:rPr>
              <a:t>Üzerinde ciddi olumsuz sonuçlara neden olabilir.</a:t>
            </a:r>
            <a:endParaRPr/>
          </a:p>
          <a:p>
            <a:pPr indent="0" lvl="0" marL="0" rtl="0" algn="l">
              <a:lnSpc>
                <a:spcPct val="90000"/>
              </a:lnSpc>
              <a:spcBef>
                <a:spcPts val="1000"/>
              </a:spcBef>
              <a:spcAft>
                <a:spcPts val="0"/>
              </a:spcAft>
              <a:buClr>
                <a:schemeClr val="dk1"/>
              </a:buClr>
              <a:buSzPts val="2800"/>
              <a:buNone/>
            </a:pPr>
            <a:r>
              <a:t/>
            </a:r>
            <a:endParaRPr>
              <a:solidFill>
                <a:srgbClr val="595959"/>
              </a:solidFill>
            </a:endParaRPr>
          </a:p>
          <a:p>
            <a:pPr indent="0" lvl="0" marL="0" rtl="0" algn="l">
              <a:lnSpc>
                <a:spcPct val="90000"/>
              </a:lnSpc>
              <a:spcBef>
                <a:spcPts val="1000"/>
              </a:spcBef>
              <a:spcAft>
                <a:spcPts val="0"/>
              </a:spcAft>
              <a:buClr>
                <a:srgbClr val="595959"/>
              </a:buClr>
              <a:buSzPts val="2800"/>
              <a:buNone/>
            </a:pPr>
            <a:r>
              <a:rPr lang="en-US">
                <a:solidFill>
                  <a:srgbClr val="595959"/>
                </a:solidFill>
              </a:rPr>
              <a:t>Bir context farklı bir context’e göre upstream iken, farklı bir context için upstream olabilir.</a:t>
            </a:r>
            <a:endParaRPr/>
          </a:p>
          <a:p>
            <a:pPr indent="0" lvl="0" marL="0" rtl="0" algn="l">
              <a:lnSpc>
                <a:spcPct val="90000"/>
              </a:lnSpc>
              <a:spcBef>
                <a:spcPts val="1000"/>
              </a:spcBef>
              <a:spcAft>
                <a:spcPts val="0"/>
              </a:spcAft>
              <a:buClr>
                <a:schemeClr val="dk1"/>
              </a:buClr>
              <a:buSzPts val="2800"/>
              <a:buNone/>
            </a:pPr>
            <a:r>
              <a:t/>
            </a:r>
            <a:endParaRPr>
              <a:solidFill>
                <a:srgbClr val="595959"/>
              </a:solidFill>
            </a:endParaRPr>
          </a:p>
          <a:p>
            <a:pPr indent="0" lvl="0" marL="0" rtl="0" algn="l">
              <a:lnSpc>
                <a:spcPct val="90000"/>
              </a:lnSpc>
              <a:spcBef>
                <a:spcPts val="1000"/>
              </a:spcBef>
              <a:spcAft>
                <a:spcPts val="0"/>
              </a:spcAft>
              <a:buClr>
                <a:schemeClr val="dk1"/>
              </a:buClr>
              <a:buSzPts val="2800"/>
              <a:buNone/>
            </a:pPr>
            <a:r>
              <a:t/>
            </a:r>
            <a:endParaRPr>
              <a:solidFill>
                <a:srgbClr val="595959"/>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Context Maps and Integration Patterns</a:t>
            </a:r>
            <a:endParaRPr>
              <a:solidFill>
                <a:srgbClr val="DD7E0E"/>
              </a:solidFill>
            </a:endParaRPr>
          </a:p>
        </p:txBody>
      </p:sp>
      <p:sp>
        <p:nvSpPr>
          <p:cNvPr id="453" name="Google Shape;453;p5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Bounded Context arası ilişkiler</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rgbClr val="242424"/>
              </a:buClr>
              <a:buSzPts val="2800"/>
              <a:buChar char="•"/>
            </a:pPr>
            <a:r>
              <a:rPr b="0" i="0" lang="en-US">
                <a:solidFill>
                  <a:srgbClr val="242424"/>
                </a:solidFill>
                <a:latin typeface="Arial"/>
                <a:ea typeface="Arial"/>
                <a:cs typeface="Arial"/>
                <a:sym typeface="Arial"/>
              </a:rPr>
              <a:t>Shared Kernel</a:t>
            </a:r>
            <a:endParaRPr/>
          </a:p>
          <a:p>
            <a:pPr indent="-228600" lvl="0" marL="228600" rtl="0" algn="l">
              <a:lnSpc>
                <a:spcPct val="90000"/>
              </a:lnSpc>
              <a:spcBef>
                <a:spcPts val="1000"/>
              </a:spcBef>
              <a:spcAft>
                <a:spcPts val="0"/>
              </a:spcAft>
              <a:buClr>
                <a:srgbClr val="242424"/>
              </a:buClr>
              <a:buSzPts val="2800"/>
              <a:buChar char="•"/>
            </a:pPr>
            <a:r>
              <a:rPr b="0" i="0" lang="en-US">
                <a:solidFill>
                  <a:srgbClr val="242424"/>
                </a:solidFill>
                <a:latin typeface="Arial"/>
                <a:ea typeface="Arial"/>
                <a:cs typeface="Arial"/>
                <a:sym typeface="Arial"/>
              </a:rPr>
              <a:t>Partnership</a:t>
            </a:r>
            <a:endParaRPr b="0" i="0">
              <a:solidFill>
                <a:srgbClr val="242424"/>
              </a:solidFill>
              <a:latin typeface="Arial"/>
              <a:ea typeface="Arial"/>
              <a:cs typeface="Arial"/>
              <a:sym typeface="Arial"/>
            </a:endParaRPr>
          </a:p>
          <a:p>
            <a:pPr indent="-228600" lvl="0" marL="228600" rtl="0" algn="l">
              <a:lnSpc>
                <a:spcPct val="90000"/>
              </a:lnSpc>
              <a:spcBef>
                <a:spcPts val="1000"/>
              </a:spcBef>
              <a:spcAft>
                <a:spcPts val="0"/>
              </a:spcAft>
              <a:buClr>
                <a:srgbClr val="242424"/>
              </a:buClr>
              <a:buSzPts val="2800"/>
              <a:buChar char="•"/>
            </a:pPr>
            <a:r>
              <a:rPr b="0" i="0" lang="en-US">
                <a:solidFill>
                  <a:srgbClr val="242424"/>
                </a:solidFill>
                <a:latin typeface="Arial"/>
                <a:ea typeface="Arial"/>
                <a:cs typeface="Arial"/>
                <a:sym typeface="Arial"/>
              </a:rPr>
              <a:t>Conformist</a:t>
            </a:r>
            <a:endParaRPr>
              <a:solidFill>
                <a:srgbClr val="242424"/>
              </a:solidFill>
              <a:latin typeface="Arial"/>
              <a:ea typeface="Arial"/>
              <a:cs typeface="Arial"/>
              <a:sym typeface="Arial"/>
            </a:endParaRPr>
          </a:p>
          <a:p>
            <a:pPr indent="-228600" lvl="0" marL="228600" rtl="0" algn="l">
              <a:lnSpc>
                <a:spcPct val="90000"/>
              </a:lnSpc>
              <a:spcBef>
                <a:spcPts val="1000"/>
              </a:spcBef>
              <a:spcAft>
                <a:spcPts val="0"/>
              </a:spcAft>
              <a:buClr>
                <a:srgbClr val="242424"/>
              </a:buClr>
              <a:buSzPts val="2800"/>
              <a:buChar char="•"/>
            </a:pPr>
            <a:r>
              <a:rPr b="0" i="0" lang="en-US">
                <a:solidFill>
                  <a:srgbClr val="242424"/>
                </a:solidFill>
                <a:latin typeface="Arial"/>
                <a:ea typeface="Arial"/>
                <a:cs typeface="Arial"/>
                <a:sym typeface="Arial"/>
              </a:rPr>
              <a:t>Customer - Supplier</a:t>
            </a:r>
            <a:endParaRPr b="0" i="0">
              <a:solidFill>
                <a:srgbClr val="242424"/>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p>
        </p:txBody>
      </p:sp>
      <p:pic>
        <p:nvPicPr>
          <p:cNvPr descr="A white rectangular sign with black text&#10;&#10;Description automatically generated" id="454" name="Google Shape;454;p58"/>
          <p:cNvPicPr preferRelativeResize="0"/>
          <p:nvPr/>
        </p:nvPicPr>
        <p:blipFill rotWithShape="1">
          <a:blip r:embed="rId3">
            <a:alphaModFix/>
          </a:blip>
          <a:srcRect b="0" l="0" r="0" t="0"/>
          <a:stretch/>
        </p:blipFill>
        <p:spPr>
          <a:xfrm>
            <a:off x="4241375" y="3156770"/>
            <a:ext cx="7256357" cy="119745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Context Mapping</a:t>
            </a:r>
            <a:endParaRPr>
              <a:solidFill>
                <a:srgbClr val="DD7E0E"/>
              </a:solidFill>
            </a:endParaRPr>
          </a:p>
        </p:txBody>
      </p:sp>
      <p:sp>
        <p:nvSpPr>
          <p:cNvPr id="461" name="Google Shape;461;p5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Bounded Context arası ilişkiler</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rgbClr val="242424"/>
              </a:buClr>
              <a:buSzPts val="2800"/>
              <a:buChar char="•"/>
            </a:pPr>
            <a:r>
              <a:rPr b="0" i="0" lang="en-US">
                <a:solidFill>
                  <a:srgbClr val="242424"/>
                </a:solidFill>
                <a:latin typeface="Arial"/>
                <a:ea typeface="Arial"/>
                <a:cs typeface="Arial"/>
                <a:sym typeface="Arial"/>
              </a:rPr>
              <a:t>Open Host Service</a:t>
            </a:r>
            <a:endParaRPr/>
          </a:p>
          <a:p>
            <a:pPr indent="-228600" lvl="0" marL="228600" rtl="0" algn="l">
              <a:lnSpc>
                <a:spcPct val="90000"/>
              </a:lnSpc>
              <a:spcBef>
                <a:spcPts val="1000"/>
              </a:spcBef>
              <a:spcAft>
                <a:spcPts val="0"/>
              </a:spcAft>
              <a:buClr>
                <a:srgbClr val="242424"/>
              </a:buClr>
              <a:buSzPts val="2800"/>
              <a:buChar char="•"/>
            </a:pPr>
            <a:r>
              <a:rPr b="0" i="0" lang="en-US">
                <a:solidFill>
                  <a:srgbClr val="242424"/>
                </a:solidFill>
                <a:latin typeface="Arial"/>
                <a:ea typeface="Arial"/>
                <a:cs typeface="Arial"/>
                <a:sym typeface="Arial"/>
              </a:rPr>
              <a:t>Published Language</a:t>
            </a:r>
            <a:endParaRPr b="0" i="0">
              <a:solidFill>
                <a:srgbClr val="242424"/>
              </a:solidFill>
              <a:latin typeface="Arial"/>
              <a:ea typeface="Arial"/>
              <a:cs typeface="Arial"/>
              <a:sym typeface="Arial"/>
            </a:endParaRPr>
          </a:p>
          <a:p>
            <a:pPr indent="-228600" lvl="0" marL="228600" rtl="0" algn="l">
              <a:lnSpc>
                <a:spcPct val="90000"/>
              </a:lnSpc>
              <a:spcBef>
                <a:spcPts val="1000"/>
              </a:spcBef>
              <a:spcAft>
                <a:spcPts val="0"/>
              </a:spcAft>
              <a:buClr>
                <a:srgbClr val="242424"/>
              </a:buClr>
              <a:buSzPts val="2800"/>
              <a:buChar char="•"/>
            </a:pPr>
            <a:r>
              <a:rPr b="0" i="0" lang="en-US">
                <a:solidFill>
                  <a:srgbClr val="242424"/>
                </a:solidFill>
                <a:latin typeface="Arial"/>
                <a:ea typeface="Arial"/>
                <a:cs typeface="Arial"/>
                <a:sym typeface="Arial"/>
              </a:rPr>
              <a:t>Separate Ways</a:t>
            </a:r>
            <a:endParaRPr>
              <a:solidFill>
                <a:srgbClr val="242424"/>
              </a:solidFill>
              <a:latin typeface="Arial"/>
              <a:ea typeface="Arial"/>
              <a:cs typeface="Arial"/>
              <a:sym typeface="Arial"/>
            </a:endParaRPr>
          </a:p>
          <a:p>
            <a:pPr indent="-228600" lvl="0" marL="228600" rtl="0" algn="l">
              <a:lnSpc>
                <a:spcPct val="90000"/>
              </a:lnSpc>
              <a:spcBef>
                <a:spcPts val="1000"/>
              </a:spcBef>
              <a:spcAft>
                <a:spcPts val="0"/>
              </a:spcAft>
              <a:buClr>
                <a:srgbClr val="242424"/>
              </a:buClr>
              <a:buSzPts val="2800"/>
              <a:buChar char="•"/>
            </a:pPr>
            <a:r>
              <a:rPr b="0" i="0" lang="en-US">
                <a:solidFill>
                  <a:srgbClr val="242424"/>
                </a:solidFill>
                <a:latin typeface="Arial"/>
                <a:ea typeface="Arial"/>
                <a:cs typeface="Arial"/>
                <a:sym typeface="Arial"/>
              </a:rPr>
              <a:t>Big Ball of Mud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Context Mapping</a:t>
            </a:r>
            <a:endParaRPr>
              <a:solidFill>
                <a:srgbClr val="DD7E0E"/>
              </a:solidFill>
            </a:endParaRPr>
          </a:p>
        </p:txBody>
      </p:sp>
      <p:pic>
        <p:nvPicPr>
          <p:cNvPr descr="A diagram of a company&#10;&#10;Description automatically generated with medium confidence" id="468" name="Google Shape;468;p60"/>
          <p:cNvPicPr preferRelativeResize="0"/>
          <p:nvPr>
            <p:ph idx="1" type="body"/>
          </p:nvPr>
        </p:nvPicPr>
        <p:blipFill rotWithShape="1">
          <a:blip r:embed="rId3">
            <a:alphaModFix/>
          </a:blip>
          <a:srcRect b="0" l="0" r="0" t="0"/>
          <a:stretch/>
        </p:blipFill>
        <p:spPr>
          <a:xfrm>
            <a:off x="2874446" y="1690688"/>
            <a:ext cx="6443107" cy="4501227"/>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Shared Kernel</a:t>
            </a:r>
            <a:endParaRPr>
              <a:solidFill>
                <a:srgbClr val="DD7E0E"/>
              </a:solidFill>
            </a:endParaRPr>
          </a:p>
        </p:txBody>
      </p:sp>
      <p:sp>
        <p:nvSpPr>
          <p:cNvPr id="475" name="Google Shape;475;p6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Farklı bounded context’ler arasında ortak olarak kullanılan bir kod tabanını ifade eder.</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Paylaşılmış çekirdek genellikle, projeler arasında tekrar eden iş kuralları (business rules), value object’ler, domain event’leri, entity’ler gibi somutlaşmış domain konseptlerini içerir.</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descr="A diagram of a red and blue circle&#10;&#10;Description automatically generated" id="476" name="Google Shape;476;p61"/>
          <p:cNvPicPr preferRelativeResize="0"/>
          <p:nvPr/>
        </p:nvPicPr>
        <p:blipFill rotWithShape="1">
          <a:blip r:embed="rId3">
            <a:alphaModFix/>
          </a:blip>
          <a:srcRect b="0" l="0" r="0" t="0"/>
          <a:stretch/>
        </p:blipFill>
        <p:spPr>
          <a:xfrm>
            <a:off x="3472137" y="4419000"/>
            <a:ext cx="4845386" cy="20738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i="0" lang="en-US">
                <a:solidFill>
                  <a:srgbClr val="DD7E0E"/>
                </a:solidFill>
                <a:latin typeface="Arial"/>
                <a:ea typeface="Arial"/>
                <a:cs typeface="Arial"/>
                <a:sym typeface="Arial"/>
              </a:rPr>
              <a:t>Partnership (Ortaklık)</a:t>
            </a:r>
            <a:endParaRPr>
              <a:solidFill>
                <a:srgbClr val="DD7E0E"/>
              </a:solidFill>
            </a:endParaRPr>
          </a:p>
        </p:txBody>
      </p:sp>
      <p:sp>
        <p:nvSpPr>
          <p:cNvPr id="483" name="Google Shape;483;p6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Partnership ilişkisinde iki sınırlı bağlam birbirine yakın bir şekilde çalışır ve genellikle bir iş hedefi veya işlevsellik sağlama konusunda birlikte sorumludurlar</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Bu ortaklık türü genellikle ekip üyelerinin sürekli iletişim halinde olmasını ve düzenli olarak bir araya gelmesini gerektirir. </a:t>
            </a:r>
            <a:endParaRPr/>
          </a:p>
          <a:p>
            <a:pPr indent="0" lvl="0" marL="0" rtl="0" algn="l">
              <a:lnSpc>
                <a:spcPct val="90000"/>
              </a:lnSpc>
              <a:spcBef>
                <a:spcPts val="1000"/>
              </a:spcBef>
              <a:spcAft>
                <a:spcPts val="0"/>
              </a:spcAft>
              <a:buClr>
                <a:schemeClr val="dk1"/>
              </a:buClr>
              <a:buSzPts val="2800"/>
              <a:buNone/>
            </a:pPr>
            <a:r>
              <a:t/>
            </a:r>
            <a:endParaRPr/>
          </a:p>
        </p:txBody>
      </p:sp>
      <p:pic>
        <p:nvPicPr>
          <p:cNvPr descr="A diagram of two circles with text&#10;&#10;Description automatically generated" id="484" name="Google Shape;484;p62"/>
          <p:cNvPicPr preferRelativeResize="0"/>
          <p:nvPr/>
        </p:nvPicPr>
        <p:blipFill rotWithShape="1">
          <a:blip r:embed="rId3">
            <a:alphaModFix/>
          </a:blip>
          <a:srcRect b="0" l="0" r="0" t="0"/>
          <a:stretch/>
        </p:blipFill>
        <p:spPr>
          <a:xfrm>
            <a:off x="2235236" y="4387960"/>
            <a:ext cx="6949790" cy="1816843"/>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i="0" lang="en-US">
                <a:solidFill>
                  <a:srgbClr val="DD7E0E"/>
                </a:solidFill>
                <a:latin typeface="Arial"/>
                <a:ea typeface="Arial"/>
                <a:cs typeface="Arial"/>
                <a:sym typeface="Arial"/>
              </a:rPr>
              <a:t>Conformist (Boyun Eğen)</a:t>
            </a:r>
            <a:endParaRPr b="1" i="0">
              <a:solidFill>
                <a:srgbClr val="DD7E0E"/>
              </a:solidFill>
              <a:latin typeface="Arial"/>
              <a:ea typeface="Arial"/>
              <a:cs typeface="Arial"/>
              <a:sym typeface="Arial"/>
            </a:endParaRPr>
          </a:p>
        </p:txBody>
      </p:sp>
      <p:sp>
        <p:nvSpPr>
          <p:cNvPr id="491" name="Google Shape;491;p6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Conformist ilişkisinde, bir bounded context’den sorumlu ekip (tüketici taraf), diğer bounded context’den sorumlu ekibin (sağlayıcı taraf) sunduğu modelleri veya API’ı olduğu gibi kabul eder ve ona uyar.</a:t>
            </a:r>
            <a:endParaRPr/>
          </a:p>
          <a:p>
            <a:pPr indent="0" lvl="0" marL="0" rtl="0" algn="l">
              <a:lnSpc>
                <a:spcPct val="90000"/>
              </a:lnSpc>
              <a:spcBef>
                <a:spcPts val="1000"/>
              </a:spcBef>
              <a:spcAft>
                <a:spcPts val="0"/>
              </a:spcAft>
              <a:buClr>
                <a:schemeClr val="dk1"/>
              </a:buClr>
              <a:buSzPts val="2800"/>
              <a:buNone/>
            </a:pPr>
            <a:r>
              <a:t/>
            </a:r>
            <a:endParaRPr/>
          </a:p>
        </p:txBody>
      </p:sp>
      <p:pic>
        <p:nvPicPr>
          <p:cNvPr descr="A black line with black text&#10;&#10;Description automatically generated" id="492" name="Google Shape;492;p63"/>
          <p:cNvPicPr preferRelativeResize="0"/>
          <p:nvPr/>
        </p:nvPicPr>
        <p:blipFill rotWithShape="1">
          <a:blip r:embed="rId3">
            <a:alphaModFix/>
          </a:blip>
          <a:srcRect b="0" l="0" r="0" t="0"/>
          <a:stretch/>
        </p:blipFill>
        <p:spPr>
          <a:xfrm>
            <a:off x="1737941" y="3597233"/>
            <a:ext cx="8041123" cy="192987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lang="en-US">
                <a:solidFill>
                  <a:srgbClr val="DD7E0E"/>
                </a:solidFill>
                <a:latin typeface="Arial"/>
                <a:ea typeface="Arial"/>
                <a:cs typeface="Arial"/>
                <a:sym typeface="Arial"/>
              </a:rPr>
              <a:t>Customer-Supplier</a:t>
            </a:r>
            <a:r>
              <a:rPr b="1" i="0" lang="en-US">
                <a:solidFill>
                  <a:srgbClr val="DD7E0E"/>
                </a:solidFill>
                <a:latin typeface="Arial"/>
                <a:ea typeface="Arial"/>
                <a:cs typeface="Arial"/>
                <a:sym typeface="Arial"/>
              </a:rPr>
              <a:t> (</a:t>
            </a:r>
            <a:r>
              <a:rPr b="1" lang="en-US">
                <a:solidFill>
                  <a:srgbClr val="DD7E0E"/>
                </a:solidFill>
                <a:latin typeface="Arial"/>
                <a:ea typeface="Arial"/>
                <a:cs typeface="Arial"/>
                <a:sym typeface="Arial"/>
              </a:rPr>
              <a:t>Müşteri Tedarikçi</a:t>
            </a:r>
            <a:r>
              <a:rPr b="1" i="0" lang="en-US">
                <a:solidFill>
                  <a:srgbClr val="DD7E0E"/>
                </a:solidFill>
                <a:latin typeface="Arial"/>
                <a:ea typeface="Arial"/>
                <a:cs typeface="Arial"/>
                <a:sym typeface="Arial"/>
              </a:rPr>
              <a:t>)</a:t>
            </a:r>
            <a:endParaRPr b="1" i="0">
              <a:solidFill>
                <a:srgbClr val="DD7E0E"/>
              </a:solidFill>
              <a:latin typeface="Arial"/>
              <a:ea typeface="Arial"/>
              <a:cs typeface="Arial"/>
              <a:sym typeface="Arial"/>
            </a:endParaRPr>
          </a:p>
        </p:txBody>
      </p:sp>
      <p:sp>
        <p:nvSpPr>
          <p:cNvPr id="499" name="Google Shape;499;p6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42424"/>
              </a:buClr>
              <a:buSzPts val="2800"/>
              <a:buNone/>
            </a:pPr>
            <a:r>
              <a:rPr lang="en-US">
                <a:solidFill>
                  <a:srgbClr val="242424"/>
                </a:solidFill>
                <a:latin typeface="Arial"/>
                <a:ea typeface="Arial"/>
                <a:cs typeface="Arial"/>
                <a:sym typeface="Arial"/>
              </a:rPr>
              <a:t>Bu ilişkide, bir bounded context’den sorumlu ekip (customer), diğer bounded context’den sorumlu ekipten (supplier) bir hizmet bekler.</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rgbClr val="242424"/>
              </a:buClr>
              <a:buSzPts val="2800"/>
              <a:buNone/>
            </a:pPr>
            <a:r>
              <a:rPr b="0" i="0" lang="en-US">
                <a:solidFill>
                  <a:srgbClr val="242424"/>
                </a:solidFill>
                <a:latin typeface="Arial"/>
                <a:ea typeface="Arial"/>
                <a:cs typeface="Arial"/>
                <a:sym typeface="Arial"/>
              </a:rPr>
              <a:t>Ancak tedarikçi taraf, müşteri tarafın ihtiyaçlarını tam olarak karşılamayabilir veya yalnızca belirli bir öncelik seviyesi sağlayabilir.</a:t>
            </a:r>
            <a:endParaRPr/>
          </a:p>
        </p:txBody>
      </p:sp>
      <p:pic>
        <p:nvPicPr>
          <p:cNvPr id="500" name="Google Shape;500;p64"/>
          <p:cNvPicPr preferRelativeResize="0"/>
          <p:nvPr/>
        </p:nvPicPr>
        <p:blipFill rotWithShape="1">
          <a:blip r:embed="rId3">
            <a:alphaModFix/>
          </a:blip>
          <a:srcRect b="0" l="0" r="0" t="0"/>
          <a:stretch/>
        </p:blipFill>
        <p:spPr>
          <a:xfrm>
            <a:off x="3237558" y="4526797"/>
            <a:ext cx="5326149" cy="207725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lang="en-US">
                <a:solidFill>
                  <a:srgbClr val="DD7E0E"/>
                </a:solidFill>
                <a:latin typeface="Arial"/>
                <a:ea typeface="Arial"/>
                <a:cs typeface="Arial"/>
                <a:sym typeface="Arial"/>
              </a:rPr>
              <a:t>Customer-Supplier</a:t>
            </a:r>
            <a:r>
              <a:rPr b="1" i="0" lang="en-US">
                <a:solidFill>
                  <a:srgbClr val="DD7E0E"/>
                </a:solidFill>
                <a:latin typeface="Arial"/>
                <a:ea typeface="Arial"/>
                <a:cs typeface="Arial"/>
                <a:sym typeface="Arial"/>
              </a:rPr>
              <a:t> (</a:t>
            </a:r>
            <a:r>
              <a:rPr b="1" lang="en-US">
                <a:solidFill>
                  <a:srgbClr val="DD7E0E"/>
                </a:solidFill>
                <a:latin typeface="Arial"/>
                <a:ea typeface="Arial"/>
                <a:cs typeface="Arial"/>
                <a:sym typeface="Arial"/>
              </a:rPr>
              <a:t>Müşteri Tedarikçi</a:t>
            </a:r>
            <a:r>
              <a:rPr b="1" i="0" lang="en-US">
                <a:solidFill>
                  <a:srgbClr val="DD7E0E"/>
                </a:solidFill>
                <a:latin typeface="Arial"/>
                <a:ea typeface="Arial"/>
                <a:cs typeface="Arial"/>
                <a:sym typeface="Arial"/>
              </a:rPr>
              <a:t>)</a:t>
            </a:r>
            <a:endParaRPr b="1" i="0">
              <a:solidFill>
                <a:srgbClr val="DD7E0E"/>
              </a:solidFill>
              <a:latin typeface="Arial"/>
              <a:ea typeface="Arial"/>
              <a:cs typeface="Arial"/>
              <a:sym typeface="Arial"/>
            </a:endParaRPr>
          </a:p>
        </p:txBody>
      </p:sp>
      <p:sp>
        <p:nvSpPr>
          <p:cNvPr id="507" name="Google Shape;507;p6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Müşteri taraf ve tedarikçi taraf arasında bir kontrat vardır (olmalıdır).</a:t>
            </a:r>
            <a:endParaRPr/>
          </a:p>
          <a:p>
            <a:pPr indent="-76200" lvl="0" marL="22860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Müşteri taraf, tedarikçi tarafa bağımlıdır.</a:t>
            </a:r>
            <a:endParaRPr/>
          </a:p>
          <a:p>
            <a:pPr indent="-76200" lvl="0" marL="22860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Tedarikçi taraf, müşteri tarafın taleplerini önceliklendirebilse de kendi bounded context’ine odaklanmıştır (odaklanmış olmalıdır).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lang="en-US">
                <a:solidFill>
                  <a:srgbClr val="DD7E0E"/>
                </a:solidFill>
                <a:latin typeface="Arial"/>
                <a:ea typeface="Arial"/>
                <a:cs typeface="Arial"/>
                <a:sym typeface="Arial"/>
              </a:rPr>
              <a:t>Bozulmayı Önleyici Katman (Anti-Corruption Layer)</a:t>
            </a:r>
            <a:endParaRPr b="1" i="0">
              <a:solidFill>
                <a:srgbClr val="DD7E0E"/>
              </a:solidFill>
              <a:latin typeface="Arial"/>
              <a:ea typeface="Arial"/>
              <a:cs typeface="Arial"/>
              <a:sym typeface="Arial"/>
            </a:endParaRPr>
          </a:p>
        </p:txBody>
      </p:sp>
      <p:sp>
        <p:nvSpPr>
          <p:cNvPr id="514" name="Google Shape;514;p6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400"/>
              <a:buNone/>
            </a:pPr>
            <a:r>
              <a:rPr lang="en-US" sz="2400"/>
              <a:t>Farklı sistemler arasında, bozulmayı önlemeye yarayan izolasyon mekanizması demektir.</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Bağımlılıkların asgariye indirilmesini (decoupling)</a:t>
            </a:r>
            <a:endParaRPr/>
          </a:p>
          <a:p>
            <a:pPr indent="-228600" lvl="0" marL="228600" rtl="0" algn="l">
              <a:lnSpc>
                <a:spcPct val="90000"/>
              </a:lnSpc>
              <a:spcBef>
                <a:spcPts val="1000"/>
              </a:spcBef>
              <a:spcAft>
                <a:spcPts val="0"/>
              </a:spcAft>
              <a:buClr>
                <a:schemeClr val="dk1"/>
              </a:buClr>
              <a:buSzPts val="2400"/>
              <a:buChar char="•"/>
            </a:pPr>
            <a:r>
              <a:rPr lang="en-US" sz="2400"/>
              <a:t>Kod taşınabilirliğinin artırılmasını</a:t>
            </a:r>
            <a:endParaRPr/>
          </a:p>
          <a:p>
            <a:pPr indent="-228600" lvl="0" marL="228600" rtl="0" algn="l">
              <a:lnSpc>
                <a:spcPct val="90000"/>
              </a:lnSpc>
              <a:spcBef>
                <a:spcPts val="1000"/>
              </a:spcBef>
              <a:spcAft>
                <a:spcPts val="0"/>
              </a:spcAft>
              <a:buClr>
                <a:schemeClr val="dk1"/>
              </a:buClr>
              <a:buSzPts val="2400"/>
              <a:buChar char="•"/>
            </a:pPr>
            <a:r>
              <a:rPr lang="en-US" sz="2400"/>
              <a:t>Sistemler arası sözleşmelerin (contracts) daha temiz olmasını</a:t>
            </a:r>
            <a:endParaRPr/>
          </a:p>
          <a:p>
            <a:pPr indent="-76200" lvl="0" marL="22860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Mediator, Adapter, Facade  tasarım desenleri genel olarak tercih edilir. </a:t>
            </a:r>
            <a:endParaRPr/>
          </a:p>
          <a:p>
            <a:pPr indent="-76200" lvl="0" marL="22860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lang="en-US">
                <a:solidFill>
                  <a:srgbClr val="DD7E0E"/>
                </a:solidFill>
                <a:latin typeface="Arial"/>
                <a:ea typeface="Arial"/>
                <a:cs typeface="Arial"/>
                <a:sym typeface="Arial"/>
              </a:rPr>
              <a:t>Anti-Corruption Layer</a:t>
            </a:r>
            <a:endParaRPr b="1" i="0">
              <a:solidFill>
                <a:srgbClr val="DD7E0E"/>
              </a:solidFill>
              <a:latin typeface="Arial"/>
              <a:ea typeface="Arial"/>
              <a:cs typeface="Arial"/>
              <a:sym typeface="Arial"/>
            </a:endParaRPr>
          </a:p>
        </p:txBody>
      </p:sp>
      <p:sp>
        <p:nvSpPr>
          <p:cNvPr id="521" name="Google Shape;521;p6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Anti-corruption layer, şu alt görevleri kapsar:</a:t>
            </a:r>
            <a:endParaRPr/>
          </a:p>
          <a:p>
            <a:pPr indent="0" lvl="0" marL="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Char char="•"/>
            </a:pPr>
            <a:r>
              <a:rPr lang="en-US" sz="2400"/>
              <a:t>İzolasyon (isolation)</a:t>
            </a:r>
            <a:endParaRPr/>
          </a:p>
          <a:p>
            <a:pPr indent="-228600" lvl="0" marL="228600" rtl="0" algn="l">
              <a:lnSpc>
                <a:spcPct val="90000"/>
              </a:lnSpc>
              <a:spcBef>
                <a:spcPts val="1000"/>
              </a:spcBef>
              <a:spcAft>
                <a:spcPts val="0"/>
              </a:spcAft>
              <a:buClr>
                <a:schemeClr val="dk1"/>
              </a:buClr>
              <a:buSzPts val="2400"/>
              <a:buChar char="•"/>
            </a:pPr>
            <a:r>
              <a:rPr lang="en-US" sz="2400"/>
              <a:t>Rotalama (routing)</a:t>
            </a:r>
            <a:endParaRPr/>
          </a:p>
          <a:p>
            <a:pPr indent="-228600" lvl="0" marL="228600" rtl="0" algn="l">
              <a:lnSpc>
                <a:spcPct val="90000"/>
              </a:lnSpc>
              <a:spcBef>
                <a:spcPts val="1000"/>
              </a:spcBef>
              <a:spcAft>
                <a:spcPts val="0"/>
              </a:spcAft>
              <a:buClr>
                <a:schemeClr val="dk1"/>
              </a:buClr>
              <a:buSzPts val="2400"/>
              <a:buChar char="•"/>
            </a:pPr>
            <a:r>
              <a:rPr lang="en-US" sz="2400"/>
              <a:t>Dönüştürme (transformation)</a:t>
            </a:r>
            <a:endParaRPr/>
          </a:p>
          <a:p>
            <a:pPr indent="-228600" lvl="0" marL="228600" rtl="0" algn="l">
              <a:lnSpc>
                <a:spcPct val="90000"/>
              </a:lnSpc>
              <a:spcBef>
                <a:spcPts val="1000"/>
              </a:spcBef>
              <a:spcAft>
                <a:spcPts val="0"/>
              </a:spcAft>
              <a:buClr>
                <a:schemeClr val="dk1"/>
              </a:buClr>
              <a:buSzPts val="2400"/>
              <a:buChar char="•"/>
            </a:pPr>
            <a:r>
              <a:rPr lang="en-US" sz="2400"/>
              <a:t>Delege etme (delegation)</a:t>
            </a:r>
            <a:endParaRPr/>
          </a:p>
        </p:txBody>
      </p:sp>
      <p:pic>
        <p:nvPicPr>
          <p:cNvPr descr="A diagram of a block diagram&#10;&#10;Description automatically generated" id="522" name="Google Shape;522;p67"/>
          <p:cNvPicPr preferRelativeResize="0"/>
          <p:nvPr/>
        </p:nvPicPr>
        <p:blipFill rotWithShape="1">
          <a:blip r:embed="rId3">
            <a:alphaModFix/>
          </a:blip>
          <a:srcRect b="0" l="0" r="0" t="0"/>
          <a:stretch/>
        </p:blipFill>
        <p:spPr>
          <a:xfrm>
            <a:off x="5884985" y="2447660"/>
            <a:ext cx="5897754" cy="230018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lang="en-US">
                <a:solidFill>
                  <a:srgbClr val="DD7E0E"/>
                </a:solidFill>
                <a:latin typeface="Arial"/>
                <a:ea typeface="Arial"/>
                <a:cs typeface="Arial"/>
                <a:sym typeface="Arial"/>
              </a:rPr>
              <a:t>Open Host</a:t>
            </a:r>
            <a:endParaRPr b="1" i="0">
              <a:solidFill>
                <a:srgbClr val="DD7E0E"/>
              </a:solidFill>
              <a:latin typeface="Arial"/>
              <a:ea typeface="Arial"/>
              <a:cs typeface="Arial"/>
              <a:sym typeface="Arial"/>
            </a:endParaRPr>
          </a:p>
        </p:txBody>
      </p:sp>
      <p:sp>
        <p:nvSpPr>
          <p:cNvPr id="529" name="Google Shape;529;p6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Open-host service ilişkisinde, bir bounded context (sunucu taraf) diğer bounded context’ler (istemci taraflar) için açık bir arayüz (mesela Web API) sağlar.</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Bu arayüz genellikle dokümente edilmiş, stabildir ve versiyonlanmıştır.</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t/>
            </a:r>
            <a:endParaRPr sz="2400"/>
          </a:p>
        </p:txBody>
      </p:sp>
      <p:pic>
        <p:nvPicPr>
          <p:cNvPr descr="A diagram of a network&#10;&#10;Description automatically generated" id="530" name="Google Shape;530;p68"/>
          <p:cNvPicPr preferRelativeResize="0"/>
          <p:nvPr/>
        </p:nvPicPr>
        <p:blipFill rotWithShape="1">
          <a:blip r:embed="rId3">
            <a:alphaModFix/>
          </a:blip>
          <a:srcRect b="0" l="0" r="0" t="0"/>
          <a:stretch/>
        </p:blipFill>
        <p:spPr>
          <a:xfrm>
            <a:off x="2811236" y="3938058"/>
            <a:ext cx="6112632" cy="237713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lang="en-US">
                <a:solidFill>
                  <a:srgbClr val="DD7E0E"/>
                </a:solidFill>
                <a:latin typeface="Arial"/>
                <a:ea typeface="Arial"/>
                <a:cs typeface="Arial"/>
                <a:sym typeface="Arial"/>
              </a:rPr>
              <a:t>Yayımlanmış Dil (Published Language)</a:t>
            </a:r>
            <a:endParaRPr b="1" i="0">
              <a:solidFill>
                <a:srgbClr val="DD7E0E"/>
              </a:solidFill>
              <a:latin typeface="Arial"/>
              <a:ea typeface="Arial"/>
              <a:cs typeface="Arial"/>
              <a:sym typeface="Arial"/>
            </a:endParaRPr>
          </a:p>
        </p:txBody>
      </p:sp>
      <p:sp>
        <p:nvSpPr>
          <p:cNvPr id="537" name="Google Shape;537;p6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iki farklı context’in, üzerinden etkileşime girebileceği ortak bir </a:t>
            </a:r>
            <a:r>
              <a:rPr b="1" lang="en-US" sz="2400">
                <a:solidFill>
                  <a:srgbClr val="DD7E0E"/>
                </a:solidFill>
              </a:rPr>
              <a:t>API</a:t>
            </a:r>
            <a:r>
              <a:rPr lang="en-US" sz="2400"/>
              <a:t> oluşturur.</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Bu ilişki tipi genellikle farklı context’ler arasında bir sözleşme (contract) oluşturmayı amaçlar. Bu, context’lerin birbirine mümkün olduğunca az bağımlı olmasını sağlar.</a:t>
            </a:r>
            <a:endParaRPr/>
          </a:p>
          <a:p>
            <a:pPr indent="0" lvl="0" marL="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lang="en-US">
                <a:solidFill>
                  <a:srgbClr val="DD7E0E"/>
                </a:solidFill>
                <a:latin typeface="Arial"/>
                <a:ea typeface="Arial"/>
                <a:cs typeface="Arial"/>
                <a:sym typeface="Arial"/>
              </a:rPr>
              <a:t>Ayrı Yollar (Separate Ways)</a:t>
            </a:r>
            <a:endParaRPr b="1" i="0">
              <a:solidFill>
                <a:srgbClr val="DD7E0E"/>
              </a:solidFill>
              <a:latin typeface="Arial"/>
              <a:ea typeface="Arial"/>
              <a:cs typeface="Arial"/>
              <a:sym typeface="Arial"/>
            </a:endParaRPr>
          </a:p>
        </p:txBody>
      </p:sp>
      <p:sp>
        <p:nvSpPr>
          <p:cNvPr id="544" name="Google Shape;544;p7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iki bounded context de birbiri için herhangi bir kısıtlama yaratmaz.</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Bu, genellikle iki bounded context arasında alaka olmadığında veya birbirlerine ihtiyaç duymadıklarında tercih edilir.</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Bounded contextler birbirinden bağımsız evrimleşebilir.</a:t>
            </a:r>
            <a:endParaRPr/>
          </a:p>
          <a:p>
            <a:pPr indent="0" lvl="0" marL="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Arial"/>
              <a:buNone/>
            </a:pPr>
            <a:r>
              <a:rPr b="1" lang="en-US">
                <a:solidFill>
                  <a:srgbClr val="DD7E0E"/>
                </a:solidFill>
                <a:latin typeface="Arial"/>
                <a:ea typeface="Arial"/>
                <a:cs typeface="Arial"/>
                <a:sym typeface="Arial"/>
              </a:rPr>
              <a:t>Big Ball of Mud</a:t>
            </a:r>
            <a:endParaRPr b="1" i="0">
              <a:solidFill>
                <a:srgbClr val="DD7E0E"/>
              </a:solidFill>
              <a:latin typeface="Arial"/>
              <a:ea typeface="Arial"/>
              <a:cs typeface="Arial"/>
              <a:sym typeface="Arial"/>
            </a:endParaRPr>
          </a:p>
        </p:txBody>
      </p:sp>
      <p:sp>
        <p:nvSpPr>
          <p:cNvPr id="551" name="Google Shape;551;p7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Bir anti-pattern’dir. Big ball of mud, belirgin yapıya, net hiyerarşiye veya düzenli bir tasarıma sahip olmayan yazılım sistemlerini tanımlamak için kullanılır.</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Sistem zamanla büyüdükçe, “katman” veya “modül” ayrımı olmadığından, çok karmaşık ve bakımı zor bir hale gelir.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Mikro Hizmetlerde Integration Patterns</a:t>
            </a:r>
            <a:endParaRPr/>
          </a:p>
        </p:txBody>
      </p:sp>
      <p:sp>
        <p:nvSpPr>
          <p:cNvPr id="557" name="Google Shape;557;p72"/>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a:t>Mikro Hizmet mimarilerinde Bounded Context’lere ayrılan uygulamalarda veritabanı tutarlılıklarını sağlamak amaçlı kullanılan patternlerdir. DDD ile tam bir bağlantısı olmamasına karşın, DDD ile yazılmış mikro hizmet uygulamalarında Bounded Contextlerin birbirleri ile uyum içerisinde olması amaçlı kullanılırlar.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Tactical</a:t>
            </a:r>
            <a:r>
              <a:rPr lang="en-US" sz="4400">
                <a:solidFill>
                  <a:srgbClr val="DD7E0E"/>
                </a:solidFill>
              </a:rPr>
              <a:t> Domain Driven Design</a:t>
            </a:r>
            <a:br>
              <a:rPr lang="en-US" sz="4400"/>
            </a:br>
            <a:endParaRPr/>
          </a:p>
        </p:txBody>
      </p:sp>
      <p:sp>
        <p:nvSpPr>
          <p:cNvPr id="564" name="Google Shape;564;p7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85000" lnSpcReduction="20000"/>
          </a:bodyPr>
          <a:lstStyle/>
          <a:p>
            <a:pPr indent="-201930" lvl="0" marL="228600" rtl="0" algn="l">
              <a:lnSpc>
                <a:spcPct val="90000"/>
              </a:lnSpc>
              <a:spcBef>
                <a:spcPts val="0"/>
              </a:spcBef>
              <a:spcAft>
                <a:spcPts val="0"/>
              </a:spcAft>
              <a:buClr>
                <a:schemeClr val="dk1"/>
              </a:buClr>
              <a:buSzPct val="100000"/>
              <a:buChar char="•"/>
            </a:pPr>
            <a:r>
              <a:rPr lang="en-US"/>
              <a:t>Entities</a:t>
            </a:r>
            <a:endParaRPr/>
          </a:p>
          <a:p>
            <a:pPr indent="-201930" lvl="0" marL="228600" rtl="0" algn="l">
              <a:lnSpc>
                <a:spcPct val="90000"/>
              </a:lnSpc>
              <a:spcBef>
                <a:spcPts val="1000"/>
              </a:spcBef>
              <a:spcAft>
                <a:spcPts val="0"/>
              </a:spcAft>
              <a:buClr>
                <a:schemeClr val="dk1"/>
              </a:buClr>
              <a:buSzPct val="100000"/>
              <a:buChar char="•"/>
            </a:pPr>
            <a:r>
              <a:rPr lang="en-US"/>
              <a:t>Events</a:t>
            </a:r>
            <a:endParaRPr/>
          </a:p>
          <a:p>
            <a:pPr indent="-147955" lvl="0" marL="228600" rtl="0" algn="l">
              <a:lnSpc>
                <a:spcPct val="90000"/>
              </a:lnSpc>
              <a:spcBef>
                <a:spcPts val="1000"/>
              </a:spcBef>
              <a:spcAft>
                <a:spcPts val="0"/>
              </a:spcAft>
              <a:buSzPct val="64285"/>
              <a:buChar char="•"/>
            </a:pPr>
            <a:r>
              <a:rPr lang="en-US"/>
              <a:t>Aggregates</a:t>
            </a:r>
            <a:endParaRPr/>
          </a:p>
          <a:p>
            <a:pPr indent="-147955" lvl="0" marL="228600" rtl="0" algn="l">
              <a:lnSpc>
                <a:spcPct val="90000"/>
              </a:lnSpc>
              <a:spcBef>
                <a:spcPts val="1000"/>
              </a:spcBef>
              <a:spcAft>
                <a:spcPts val="0"/>
              </a:spcAft>
              <a:buSzPct val="64285"/>
              <a:buChar char="•"/>
            </a:pPr>
            <a:r>
              <a:rPr lang="en-US"/>
              <a:t>Aggregate Root</a:t>
            </a:r>
            <a:endParaRPr/>
          </a:p>
          <a:p>
            <a:pPr indent="-201930" lvl="0" marL="228600" rtl="0" algn="l">
              <a:lnSpc>
                <a:spcPct val="90000"/>
              </a:lnSpc>
              <a:spcBef>
                <a:spcPts val="1000"/>
              </a:spcBef>
              <a:spcAft>
                <a:spcPts val="0"/>
              </a:spcAft>
              <a:buClr>
                <a:schemeClr val="dk1"/>
              </a:buClr>
              <a:buSzPct val="100000"/>
              <a:buChar char="•"/>
            </a:pPr>
            <a:r>
              <a:rPr lang="en-US"/>
              <a:t>Services</a:t>
            </a:r>
            <a:endParaRPr/>
          </a:p>
          <a:p>
            <a:pPr indent="-201930" lvl="0" marL="228600" rtl="0" algn="l">
              <a:lnSpc>
                <a:spcPct val="90000"/>
              </a:lnSpc>
              <a:spcBef>
                <a:spcPts val="1000"/>
              </a:spcBef>
              <a:spcAft>
                <a:spcPts val="0"/>
              </a:spcAft>
              <a:buClr>
                <a:schemeClr val="dk1"/>
              </a:buClr>
              <a:buSzPct val="100000"/>
              <a:buChar char="•"/>
            </a:pPr>
            <a:r>
              <a:rPr lang="en-US"/>
              <a:t>Enumerations</a:t>
            </a:r>
            <a:endParaRPr/>
          </a:p>
          <a:p>
            <a:pPr indent="-201930" lvl="0" marL="228600" rtl="0" algn="l">
              <a:lnSpc>
                <a:spcPct val="90000"/>
              </a:lnSpc>
              <a:spcBef>
                <a:spcPts val="1000"/>
              </a:spcBef>
              <a:spcAft>
                <a:spcPts val="0"/>
              </a:spcAft>
              <a:buClr>
                <a:schemeClr val="dk1"/>
              </a:buClr>
              <a:buSzPct val="100000"/>
              <a:buChar char="•"/>
            </a:pPr>
            <a:r>
              <a:rPr lang="en-US"/>
              <a:t>Value Objects</a:t>
            </a:r>
            <a:endParaRPr/>
          </a:p>
          <a:p>
            <a:pPr indent="-201930" lvl="0" marL="228600" rtl="0" algn="l">
              <a:lnSpc>
                <a:spcPct val="90000"/>
              </a:lnSpc>
              <a:spcBef>
                <a:spcPts val="1000"/>
              </a:spcBef>
              <a:spcAft>
                <a:spcPts val="0"/>
              </a:spcAft>
              <a:buClr>
                <a:schemeClr val="dk1"/>
              </a:buClr>
              <a:buSzPct val="100000"/>
              <a:buChar char="•"/>
            </a:pPr>
            <a:r>
              <a:rPr lang="en-US"/>
              <a:t>Factories</a:t>
            </a:r>
            <a:endParaRPr/>
          </a:p>
          <a:p>
            <a:pPr indent="-201930" lvl="0" marL="228600" rtl="0" algn="l">
              <a:lnSpc>
                <a:spcPct val="90000"/>
              </a:lnSpc>
              <a:spcBef>
                <a:spcPts val="1000"/>
              </a:spcBef>
              <a:spcAft>
                <a:spcPts val="0"/>
              </a:spcAft>
              <a:buClr>
                <a:schemeClr val="dk1"/>
              </a:buClr>
              <a:buSzPct val="100000"/>
              <a:buChar char="•"/>
            </a:pPr>
            <a:r>
              <a:rPr lang="en-US"/>
              <a:t>Repositories</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Anemic Domain Model</a:t>
            </a:r>
            <a:endParaRPr/>
          </a:p>
        </p:txBody>
      </p:sp>
      <p:sp>
        <p:nvSpPr>
          <p:cNvPr id="570" name="Google Shape;570;p7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Entityler sadece </a:t>
            </a:r>
            <a:r>
              <a:rPr b="1" lang="en-US">
                <a:solidFill>
                  <a:srgbClr val="DD7E0E"/>
                </a:solidFill>
              </a:rPr>
              <a:t>Propertiesten</a:t>
            </a:r>
            <a:r>
              <a:rPr lang="en-US"/>
              <a:t> oluşur.</a:t>
            </a:r>
            <a:endParaRPr/>
          </a:p>
          <a:p>
            <a:pPr indent="-228600" lvl="0" marL="228600" rtl="0" algn="l">
              <a:lnSpc>
                <a:spcPct val="90000"/>
              </a:lnSpc>
              <a:spcBef>
                <a:spcPts val="1000"/>
              </a:spcBef>
              <a:spcAft>
                <a:spcPts val="0"/>
              </a:spcAft>
              <a:buClr>
                <a:schemeClr val="dk1"/>
              </a:buClr>
              <a:buSzPts val="2800"/>
              <a:buChar char="•"/>
            </a:pPr>
            <a:r>
              <a:rPr lang="en-US"/>
              <a:t>Entityler </a:t>
            </a:r>
            <a:r>
              <a:rPr b="1" lang="en-US">
                <a:solidFill>
                  <a:srgbClr val="DD7E0E"/>
                </a:solidFill>
              </a:rPr>
              <a:t>(Behaviors)</a:t>
            </a:r>
            <a:r>
              <a:rPr lang="en-US"/>
              <a:t> barındırmaz</a:t>
            </a:r>
            <a:endParaRPr/>
          </a:p>
          <a:p>
            <a:pPr indent="-228600" lvl="0" marL="228600" rtl="0" algn="l">
              <a:lnSpc>
                <a:spcPct val="90000"/>
              </a:lnSpc>
              <a:spcBef>
                <a:spcPts val="1000"/>
              </a:spcBef>
              <a:spcAft>
                <a:spcPts val="0"/>
              </a:spcAft>
              <a:buClr>
                <a:srgbClr val="DD7E0E"/>
              </a:buClr>
              <a:buSzPts val="2800"/>
              <a:buChar char="•"/>
            </a:pPr>
            <a:r>
              <a:rPr lang="en-US">
                <a:solidFill>
                  <a:srgbClr val="DD7E0E"/>
                </a:solidFill>
              </a:rPr>
              <a:t>Cohesion</a:t>
            </a:r>
            <a:r>
              <a:rPr lang="en-US"/>
              <a:t> düşüktür.</a:t>
            </a:r>
            <a:endParaRPr/>
          </a:p>
          <a:p>
            <a:pPr indent="-228600" lvl="0" marL="228600" rtl="0" algn="l">
              <a:lnSpc>
                <a:spcPct val="90000"/>
              </a:lnSpc>
              <a:spcBef>
                <a:spcPts val="1000"/>
              </a:spcBef>
              <a:spcAft>
                <a:spcPts val="0"/>
              </a:spcAft>
              <a:buClr>
                <a:schemeClr val="dk1"/>
              </a:buClr>
              <a:buSzPts val="2800"/>
              <a:buChar char="•"/>
            </a:pPr>
            <a:r>
              <a:rPr lang="en-US"/>
              <a:t>Bussiness Rules (Behaviors) </a:t>
            </a:r>
            <a:r>
              <a:rPr lang="en-US">
                <a:solidFill>
                  <a:srgbClr val="DD7E0E"/>
                </a:solidFill>
              </a:rPr>
              <a:t>BLL</a:t>
            </a:r>
            <a:r>
              <a:rPr lang="en-US"/>
              <a:t>'dediğimiz katmanda bulunur.</a:t>
            </a:r>
            <a:endParaRPr/>
          </a:p>
        </p:txBody>
      </p:sp>
      <p:sp>
        <p:nvSpPr>
          <p:cNvPr id="571" name="Google Shape;571;p74"/>
          <p:cNvSpPr/>
          <p:nvPr/>
        </p:nvSpPr>
        <p:spPr>
          <a:xfrm>
            <a:off x="1133788" y="4227843"/>
            <a:ext cx="3073120" cy="912725"/>
          </a:xfrm>
          <a:prstGeom prst="rect">
            <a:avLst/>
          </a:prstGeom>
          <a:solidFill>
            <a:srgbClr val="DD7E0E"/>
          </a:solidFill>
          <a:ln cap="flat" cmpd="sng" w="12700">
            <a:solidFill>
              <a:srgbClr val="78846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Entity</a:t>
            </a:r>
            <a:endParaRPr/>
          </a:p>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Order</a:t>
            </a:r>
            <a:endParaRPr/>
          </a:p>
        </p:txBody>
      </p:sp>
      <p:sp>
        <p:nvSpPr>
          <p:cNvPr id="572" name="Google Shape;572;p74"/>
          <p:cNvSpPr/>
          <p:nvPr/>
        </p:nvSpPr>
        <p:spPr>
          <a:xfrm>
            <a:off x="7053941" y="4169227"/>
            <a:ext cx="3073120" cy="912725"/>
          </a:xfrm>
          <a:prstGeom prst="rect">
            <a:avLst/>
          </a:prstGeom>
          <a:solidFill>
            <a:srgbClr val="DD7E0E"/>
          </a:solidFill>
          <a:ln cap="flat" cmpd="sng" w="12700">
            <a:solidFill>
              <a:srgbClr val="78846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BLL Layer Service</a:t>
            </a:r>
            <a:endParaRPr/>
          </a:p>
          <a:p>
            <a:pPr indent="0" lvl="0" marL="0" marR="0" rtl="0" algn="ctr">
              <a:spcBef>
                <a:spcPts val="0"/>
              </a:spcBef>
              <a:spcAft>
                <a:spcPts val="0"/>
              </a:spcAft>
              <a:buNone/>
            </a:pPr>
            <a:r>
              <a:rPr b="0" i="0" lang="en-US" sz="1800" u="none" cap="none" strike="noStrike">
                <a:solidFill>
                  <a:schemeClr val="lt1"/>
                </a:solidFill>
                <a:latin typeface="Avenir"/>
                <a:ea typeface="Avenir"/>
                <a:cs typeface="Avenir"/>
                <a:sym typeface="Avenir"/>
              </a:rPr>
              <a:t>OrderService</a:t>
            </a:r>
            <a:endParaRPr/>
          </a:p>
        </p:txBody>
      </p:sp>
      <p:sp>
        <p:nvSpPr>
          <p:cNvPr id="573" name="Google Shape;573;p74"/>
          <p:cNvSpPr/>
          <p:nvPr/>
        </p:nvSpPr>
        <p:spPr>
          <a:xfrm>
            <a:off x="4726446" y="4443251"/>
            <a:ext cx="1867317" cy="485670"/>
          </a:xfrm>
          <a:prstGeom prst="leftRightArrow">
            <a:avLst>
              <a:gd fmla="val 50000" name="adj1"/>
              <a:gd fmla="val 50000" name="adj2"/>
            </a:avLst>
          </a:prstGeom>
          <a:solidFill>
            <a:srgbClr val="0070C0"/>
          </a:solidFill>
          <a:ln cap="flat" cmpd="sng" w="12700">
            <a:solidFill>
              <a:srgbClr val="78846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Model</a:t>
            </a:r>
            <a:endParaRPr/>
          </a:p>
        </p:txBody>
      </p:sp>
      <p:pic>
        <p:nvPicPr>
          <p:cNvPr id="580" name="Google Shape;580;p75"/>
          <p:cNvPicPr preferRelativeResize="0"/>
          <p:nvPr>
            <p:ph idx="1" type="body"/>
          </p:nvPr>
        </p:nvPicPr>
        <p:blipFill rotWithShape="1">
          <a:blip r:embed="rId3">
            <a:alphaModFix/>
          </a:blip>
          <a:srcRect b="0" l="0" r="0" t="0"/>
          <a:stretch/>
        </p:blipFill>
        <p:spPr>
          <a:xfrm>
            <a:off x="951665" y="1582790"/>
            <a:ext cx="7910560" cy="385974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4400">
                <a:solidFill>
                  <a:srgbClr val="DD7E0E"/>
                </a:solidFill>
              </a:rPr>
              <a:t>Entities</a:t>
            </a:r>
            <a:endParaRPr>
              <a:solidFill>
                <a:srgbClr val="DD7E0E"/>
              </a:solidFill>
            </a:endParaRPr>
          </a:p>
        </p:txBody>
      </p:sp>
      <p:sp>
        <p:nvSpPr>
          <p:cNvPr id="587" name="Google Shape;587;p76"/>
          <p:cNvSpPr txBox="1"/>
          <p:nvPr>
            <p:ph idx="1" type="body"/>
          </p:nvPr>
        </p:nvSpPr>
        <p:spPr>
          <a:xfrm>
            <a:off x="838200" y="1825625"/>
            <a:ext cx="6395155" cy="3859742"/>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sz="2400">
              <a:solidFill>
                <a:srgbClr val="DD7E0E"/>
              </a:solidFill>
            </a:endParaRPr>
          </a:p>
          <a:p>
            <a:pPr indent="0" lvl="0" marL="0" rtl="0" algn="l">
              <a:lnSpc>
                <a:spcPct val="90000"/>
              </a:lnSpc>
              <a:spcBef>
                <a:spcPts val="1000"/>
              </a:spcBef>
              <a:spcAft>
                <a:spcPts val="0"/>
              </a:spcAft>
              <a:buClr>
                <a:schemeClr val="dk1"/>
              </a:buClr>
              <a:buSzPts val="2400"/>
              <a:buNone/>
            </a:pPr>
            <a:r>
              <a:rPr lang="en-US" sz="2400"/>
              <a:t>Kendisine ait unique değeri olan yapılar. (ID)</a:t>
            </a:r>
            <a:endParaRPr sz="2400"/>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Mutable object olarak kullanılır.</a:t>
            </a:r>
            <a:endParaRPr/>
          </a:p>
        </p:txBody>
      </p:sp>
      <p:pic>
        <p:nvPicPr>
          <p:cNvPr descr="A diagram of a domain entry pattern&#10;&#10;Description automatically generated" id="588" name="Google Shape;588;p76"/>
          <p:cNvPicPr preferRelativeResize="0"/>
          <p:nvPr/>
        </p:nvPicPr>
        <p:blipFill rotWithShape="1">
          <a:blip r:embed="rId3">
            <a:alphaModFix/>
          </a:blip>
          <a:srcRect b="0" l="0" r="0" t="0"/>
          <a:stretch/>
        </p:blipFill>
        <p:spPr>
          <a:xfrm>
            <a:off x="7343994" y="1891770"/>
            <a:ext cx="3800536" cy="3526897"/>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4400">
                <a:solidFill>
                  <a:srgbClr val="DD7E0E"/>
                </a:solidFill>
              </a:rPr>
              <a:t>Value Object </a:t>
            </a:r>
            <a:endParaRPr>
              <a:solidFill>
                <a:srgbClr val="DD7E0E"/>
              </a:solidFill>
            </a:endParaRPr>
          </a:p>
        </p:txBody>
      </p:sp>
      <p:sp>
        <p:nvSpPr>
          <p:cNvPr id="595" name="Google Shape;595;p77"/>
          <p:cNvSpPr txBox="1"/>
          <p:nvPr>
            <p:ph idx="1" type="body"/>
          </p:nvPr>
        </p:nvSpPr>
        <p:spPr>
          <a:xfrm>
            <a:off x="838200" y="1825625"/>
            <a:ext cx="6395155" cy="3859742"/>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sz="2400">
              <a:solidFill>
                <a:srgbClr val="DD7E0E"/>
              </a:solidFill>
            </a:endParaRPr>
          </a:p>
          <a:p>
            <a:pPr indent="0" lvl="0" marL="0" rtl="0" algn="l">
              <a:lnSpc>
                <a:spcPct val="90000"/>
              </a:lnSpc>
              <a:spcBef>
                <a:spcPts val="1000"/>
              </a:spcBef>
              <a:spcAft>
                <a:spcPts val="0"/>
              </a:spcAft>
              <a:buClr>
                <a:schemeClr val="dk1"/>
              </a:buClr>
              <a:buSzPts val="2400"/>
              <a:buNone/>
            </a:pPr>
            <a:r>
              <a:rPr lang="en-US" sz="2400"/>
              <a:t>Kendisine ait unique değeri olmayan yapılar. Sadece değer amaçlı kullanılan yapılar. </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Immutable olarak çalışırlar</a:t>
            </a:r>
            <a:endParaRPr/>
          </a:p>
          <a:p>
            <a:pPr indent="0" lvl="0" marL="0" rtl="0" algn="l">
              <a:lnSpc>
                <a:spcPct val="90000"/>
              </a:lnSpc>
              <a:spcBef>
                <a:spcPts val="1000"/>
              </a:spcBef>
              <a:spcAft>
                <a:spcPts val="0"/>
              </a:spcAft>
              <a:buClr>
                <a:schemeClr val="dk1"/>
              </a:buClr>
              <a:buSzPts val="2400"/>
              <a:buNone/>
            </a:pPr>
            <a:r>
              <a:t/>
            </a:r>
            <a:endParaRPr sz="2400"/>
          </a:p>
        </p:txBody>
      </p:sp>
      <p:pic>
        <p:nvPicPr>
          <p:cNvPr id="596" name="Google Shape;596;p77"/>
          <p:cNvPicPr preferRelativeResize="0"/>
          <p:nvPr/>
        </p:nvPicPr>
        <p:blipFill rotWithShape="1">
          <a:blip r:embed="rId3">
            <a:alphaModFix/>
          </a:blip>
          <a:srcRect b="0" l="0" r="0" t="0"/>
          <a:stretch/>
        </p:blipFill>
        <p:spPr>
          <a:xfrm>
            <a:off x="7499585" y="1888727"/>
            <a:ext cx="3702755" cy="3390987"/>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sz="4400">
                <a:solidFill>
                  <a:srgbClr val="DD7E0E"/>
                </a:solidFill>
              </a:rPr>
              <a:t>Aggregate Root</a:t>
            </a:r>
            <a:endParaRPr>
              <a:solidFill>
                <a:srgbClr val="DD7E0E"/>
              </a:solidFill>
            </a:endParaRPr>
          </a:p>
        </p:txBody>
      </p:sp>
      <p:sp>
        <p:nvSpPr>
          <p:cNvPr id="603" name="Google Shape;603;p78"/>
          <p:cNvSpPr txBox="1"/>
          <p:nvPr>
            <p:ph idx="1" type="body"/>
          </p:nvPr>
        </p:nvSpPr>
        <p:spPr>
          <a:xfrm>
            <a:off x="838200" y="1825625"/>
            <a:ext cx="10802815" cy="4311406"/>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sz="2400">
              <a:solidFill>
                <a:srgbClr val="DD7E0E"/>
              </a:solidFill>
            </a:endParaRPr>
          </a:p>
          <a:p>
            <a:pPr indent="0" lvl="0" marL="0" rtl="0" algn="l">
              <a:lnSpc>
                <a:spcPct val="90000"/>
              </a:lnSpc>
              <a:spcBef>
                <a:spcPts val="1000"/>
              </a:spcBef>
              <a:spcAft>
                <a:spcPts val="0"/>
              </a:spcAft>
              <a:buClr>
                <a:schemeClr val="dk1"/>
              </a:buClr>
              <a:buSzPts val="2400"/>
              <a:buNone/>
            </a:pPr>
            <a:r>
              <a:rPr lang="en-US" sz="2400"/>
              <a:t>Birbileri ile alakalı nesnlerin bir arada bulunmasını ve yönetilmesini sağlayan yapılar. </a:t>
            </a:r>
            <a:endParaRPr sz="2400"/>
          </a:p>
        </p:txBody>
      </p:sp>
      <p:pic>
        <p:nvPicPr>
          <p:cNvPr descr="A diagram of a type of agreement&#10;&#10;Description automatically generated" id="604" name="Google Shape;604;p78"/>
          <p:cNvPicPr preferRelativeResize="0"/>
          <p:nvPr/>
        </p:nvPicPr>
        <p:blipFill rotWithShape="1">
          <a:blip r:embed="rId3">
            <a:alphaModFix/>
          </a:blip>
          <a:srcRect b="0" l="0" r="0" t="0"/>
          <a:stretch/>
        </p:blipFill>
        <p:spPr>
          <a:xfrm>
            <a:off x="2600243" y="3133712"/>
            <a:ext cx="7278728" cy="286264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 Aggregates</a:t>
            </a:r>
            <a:endParaRPr/>
          </a:p>
        </p:txBody>
      </p:sp>
      <p:pic>
        <p:nvPicPr>
          <p:cNvPr id="610" name="Google Shape;610;p79"/>
          <p:cNvPicPr preferRelativeResize="0"/>
          <p:nvPr>
            <p:ph idx="1" type="body"/>
          </p:nvPr>
        </p:nvPicPr>
        <p:blipFill rotWithShape="1">
          <a:blip r:embed="rId3">
            <a:alphaModFix/>
          </a:blip>
          <a:srcRect b="0" l="0" r="0" t="0"/>
          <a:stretch/>
        </p:blipFill>
        <p:spPr>
          <a:xfrm>
            <a:off x="1575799" y="1842617"/>
            <a:ext cx="9134475" cy="35623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Factories</a:t>
            </a:r>
            <a:endParaRPr>
              <a:solidFill>
                <a:srgbClr val="DD7E0E"/>
              </a:solidFill>
            </a:endParaRPr>
          </a:p>
        </p:txBody>
      </p:sp>
      <p:pic>
        <p:nvPicPr>
          <p:cNvPr descr="A diagram of a process&#10;&#10;Description automatically generated with low confidence" id="616" name="Google Shape;616;p80"/>
          <p:cNvPicPr preferRelativeResize="0"/>
          <p:nvPr>
            <p:ph idx="1" type="body"/>
          </p:nvPr>
        </p:nvPicPr>
        <p:blipFill rotWithShape="1">
          <a:blip r:embed="rId3">
            <a:alphaModFix/>
          </a:blip>
          <a:srcRect b="0" l="0" r="0" t="0"/>
          <a:stretch/>
        </p:blipFill>
        <p:spPr>
          <a:xfrm>
            <a:off x="2377940" y="2410534"/>
            <a:ext cx="7017776" cy="3547660"/>
          </a:xfrm>
          <a:prstGeom prst="rect">
            <a:avLst/>
          </a:prstGeom>
          <a:noFill/>
          <a:ln>
            <a:noFill/>
          </a:ln>
        </p:spPr>
      </p:pic>
      <p:sp>
        <p:nvSpPr>
          <p:cNvPr id="617" name="Google Shape;617;p80"/>
          <p:cNvSpPr txBox="1"/>
          <p:nvPr/>
        </p:nvSpPr>
        <p:spPr>
          <a:xfrm>
            <a:off x="1381149" y="1456427"/>
            <a:ext cx="901135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292929"/>
                </a:solidFill>
                <a:latin typeface="Avenir"/>
                <a:ea typeface="Avenir"/>
                <a:cs typeface="Avenir"/>
                <a:sym typeface="Avenir"/>
              </a:rPr>
              <a:t>(</a:t>
            </a:r>
            <a:r>
              <a:rPr b="0" i="0" lang="en-US" sz="2400" u="none" cap="none" strike="noStrike">
                <a:solidFill>
                  <a:srgbClr val="DD7E0E"/>
                </a:solidFill>
                <a:latin typeface="Avenir"/>
                <a:ea typeface="Avenir"/>
                <a:cs typeface="Avenir"/>
                <a:sym typeface="Avenir"/>
              </a:rPr>
              <a:t>aggregates</a:t>
            </a:r>
            <a:r>
              <a:rPr b="0" i="0" lang="en-US" sz="2400" u="none" cap="none" strike="noStrike">
                <a:solidFill>
                  <a:srgbClr val="292929"/>
                </a:solidFill>
                <a:latin typeface="Avenir"/>
                <a:ea typeface="Avenir"/>
                <a:cs typeface="Avenir"/>
                <a:sym typeface="Avenir"/>
              </a:rPr>
              <a:t>) tutarlı bir durum (</a:t>
            </a:r>
            <a:r>
              <a:rPr b="0" i="0" lang="en-US" sz="2400" u="none" cap="none" strike="noStrike">
                <a:solidFill>
                  <a:srgbClr val="DD7E0E"/>
                </a:solidFill>
                <a:latin typeface="Avenir"/>
                <a:ea typeface="Avenir"/>
                <a:cs typeface="Avenir"/>
                <a:sym typeface="Avenir"/>
              </a:rPr>
              <a:t>state</a:t>
            </a:r>
            <a:r>
              <a:rPr b="0" i="0" lang="en-US" sz="2400" u="none" cap="none" strike="noStrike">
                <a:solidFill>
                  <a:srgbClr val="292929"/>
                </a:solidFill>
                <a:latin typeface="Avenir"/>
                <a:ea typeface="Avenir"/>
                <a:cs typeface="Avenir"/>
                <a:sym typeface="Avenir"/>
              </a:rPr>
              <a:t>) içerisinde başlatılmasını sağlar.</a:t>
            </a:r>
            <a:endParaRPr sz="2400">
              <a:solidFill>
                <a:schemeClr val="dk1"/>
              </a:solidFill>
              <a:latin typeface="Avenir"/>
              <a:ea typeface="Avenir"/>
              <a:cs typeface="Avenir"/>
              <a:sym typeface="Aveni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Repositories</a:t>
            </a:r>
            <a:endParaRPr>
              <a:solidFill>
                <a:srgbClr val="DD7E0E"/>
              </a:solidFill>
            </a:endParaRPr>
          </a:p>
        </p:txBody>
      </p:sp>
      <p:pic>
        <p:nvPicPr>
          <p:cNvPr descr="A picture containing text, screenshot, font&#10;&#10;Description automatically generated" id="623" name="Google Shape;623;p81"/>
          <p:cNvPicPr preferRelativeResize="0"/>
          <p:nvPr>
            <p:ph idx="1" type="body"/>
          </p:nvPr>
        </p:nvPicPr>
        <p:blipFill rotWithShape="1">
          <a:blip r:embed="rId3">
            <a:alphaModFix/>
          </a:blip>
          <a:srcRect b="0" l="0" r="0" t="0"/>
          <a:stretch/>
        </p:blipFill>
        <p:spPr>
          <a:xfrm>
            <a:off x="2159683" y="2201331"/>
            <a:ext cx="7793209" cy="3595993"/>
          </a:xfrm>
          <a:prstGeom prst="rect">
            <a:avLst/>
          </a:prstGeom>
          <a:noFill/>
          <a:ln>
            <a:noFill/>
          </a:ln>
        </p:spPr>
      </p:pic>
      <p:sp>
        <p:nvSpPr>
          <p:cNvPr id="624" name="Google Shape;624;p81"/>
          <p:cNvSpPr txBox="1"/>
          <p:nvPr/>
        </p:nvSpPr>
        <p:spPr>
          <a:xfrm>
            <a:off x="1381149" y="1456427"/>
            <a:ext cx="901135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a:solidFill>
                  <a:srgbClr val="292929"/>
                </a:solidFill>
                <a:latin typeface="Avenir"/>
                <a:ea typeface="Avenir"/>
                <a:cs typeface="Avenir"/>
                <a:sym typeface="Avenir"/>
              </a:rPr>
              <a:t>(</a:t>
            </a:r>
            <a:r>
              <a:rPr b="0" i="0" lang="en-US" sz="2400">
                <a:solidFill>
                  <a:srgbClr val="DD7E0E"/>
                </a:solidFill>
                <a:latin typeface="Avenir"/>
                <a:ea typeface="Avenir"/>
                <a:cs typeface="Avenir"/>
                <a:sym typeface="Avenir"/>
              </a:rPr>
              <a:t>aggregates</a:t>
            </a:r>
            <a:r>
              <a:rPr b="0" i="0" lang="en-US" sz="2400">
                <a:solidFill>
                  <a:srgbClr val="292929"/>
                </a:solidFill>
                <a:latin typeface="Avenir"/>
                <a:ea typeface="Avenir"/>
                <a:cs typeface="Avenir"/>
                <a:sym typeface="Avenir"/>
              </a:rPr>
              <a:t>) tutarlı bir durum (</a:t>
            </a:r>
            <a:r>
              <a:rPr b="0" i="0" lang="en-US" sz="2400">
                <a:solidFill>
                  <a:srgbClr val="DD7E0E"/>
                </a:solidFill>
                <a:latin typeface="Avenir"/>
                <a:ea typeface="Avenir"/>
                <a:cs typeface="Avenir"/>
                <a:sym typeface="Avenir"/>
              </a:rPr>
              <a:t>state</a:t>
            </a:r>
            <a:r>
              <a:rPr b="0" i="0" lang="en-US" sz="2400">
                <a:solidFill>
                  <a:srgbClr val="292929"/>
                </a:solidFill>
                <a:latin typeface="Avenir"/>
                <a:ea typeface="Avenir"/>
                <a:cs typeface="Avenir"/>
                <a:sym typeface="Avenir"/>
              </a:rPr>
              <a:t>) içerisinde devamlılığını sağlar.</a:t>
            </a:r>
            <a:endParaRPr sz="2400">
              <a:solidFill>
                <a:schemeClr val="dk1"/>
              </a:solidFill>
              <a:latin typeface="Avenir"/>
              <a:ea typeface="Avenir"/>
              <a:cs typeface="Avenir"/>
              <a:sym typeface="Aveni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Events</a:t>
            </a:r>
            <a:endParaRPr>
              <a:solidFill>
                <a:srgbClr val="DD7E0E"/>
              </a:solidFill>
            </a:endParaRPr>
          </a:p>
        </p:txBody>
      </p:sp>
      <p:sp>
        <p:nvSpPr>
          <p:cNvPr id="631" name="Google Shape;631;p8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t/>
            </a:r>
            <a:endParaRPr>
              <a:solidFill>
                <a:srgbClr val="DD7E0E"/>
              </a:solidFill>
            </a:endParaRPr>
          </a:p>
          <a:p>
            <a:pPr indent="-228600" lvl="0" marL="228600" rtl="0" algn="l">
              <a:lnSpc>
                <a:spcPct val="90000"/>
              </a:lnSpc>
              <a:spcBef>
                <a:spcPts val="1000"/>
              </a:spcBef>
              <a:spcAft>
                <a:spcPts val="0"/>
              </a:spcAft>
              <a:buClr>
                <a:schemeClr val="dk1"/>
              </a:buClr>
              <a:buSzPts val="2800"/>
              <a:buChar char="•"/>
            </a:pPr>
            <a:r>
              <a:rPr lang="en-US"/>
              <a:t>Aggregate Rootlar (Aggregates) arasındaki ilişki Domain eventler ile sağlanır.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Gevşek bağlı bir geliştirme stratejisi sunar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 Memory çalışır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Clean </a:t>
            </a:r>
            <a:r>
              <a:rPr lang="en-US">
                <a:solidFill>
                  <a:srgbClr val="DD7E0E"/>
                </a:solidFill>
              </a:rPr>
              <a:t>Architecture</a:t>
            </a:r>
            <a:r>
              <a:rPr lang="en-US">
                <a:solidFill>
                  <a:srgbClr val="DD7E0E"/>
                </a:solidFill>
              </a:rPr>
              <a:t> (Temiz Mimari)</a:t>
            </a:r>
            <a:endParaRPr/>
          </a:p>
        </p:txBody>
      </p:sp>
      <p:sp>
        <p:nvSpPr>
          <p:cNvPr id="638" name="Google Shape;638;p8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a:solidFill>
                  <a:srgbClr val="DD7E0E"/>
                </a:solidFill>
              </a:rPr>
              <a:t>Clean architecture</a:t>
            </a:r>
            <a:r>
              <a:rPr lang="en-US"/>
              <a:t>, uygulamamızın </a:t>
            </a:r>
            <a:r>
              <a:rPr lang="en-US"/>
              <a:t>bağımlılıklarının</a:t>
            </a:r>
            <a:r>
              <a:rPr lang="en-US"/>
              <a:t> tek yönlü ve içe doğru olmasını savunan bir yazılım mimarisidir.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639" name="Google Shape;639;p83"/>
          <p:cNvPicPr preferRelativeResize="0"/>
          <p:nvPr/>
        </p:nvPicPr>
        <p:blipFill rotWithShape="1">
          <a:blip r:embed="rId3">
            <a:alphaModFix/>
          </a:blip>
          <a:srcRect b="0" l="0" r="0" t="0"/>
          <a:stretch/>
        </p:blipFill>
        <p:spPr>
          <a:xfrm>
            <a:off x="3887140" y="3068929"/>
            <a:ext cx="3382903" cy="332599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Layer</a:t>
            </a:r>
            <a:endParaRPr/>
          </a:p>
        </p:txBody>
      </p:sp>
      <p:sp>
        <p:nvSpPr>
          <p:cNvPr id="645" name="Google Shape;645;p8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Uygulamanın Logic'inin yer aldığı Katman'dır.</a:t>
            </a:r>
            <a:endParaRPr/>
          </a:p>
          <a:p>
            <a:pPr indent="-228600" lvl="0" marL="228600" rtl="0" algn="l">
              <a:lnSpc>
                <a:spcPct val="90000"/>
              </a:lnSpc>
              <a:spcBef>
                <a:spcPts val="1000"/>
              </a:spcBef>
              <a:spcAft>
                <a:spcPts val="0"/>
              </a:spcAft>
              <a:buClr>
                <a:schemeClr val="dk1"/>
              </a:buClr>
              <a:buSzPts val="2800"/>
              <a:buChar char="•"/>
            </a:pPr>
            <a:r>
              <a:rPr lang="en-US"/>
              <a:t>Değişikliklerden en az etkilenen katmandır</a:t>
            </a:r>
            <a:endParaRPr/>
          </a:p>
          <a:p>
            <a:pPr indent="-228600" lvl="0" marL="228600" rtl="0" algn="l">
              <a:lnSpc>
                <a:spcPct val="90000"/>
              </a:lnSpc>
              <a:spcBef>
                <a:spcPts val="1000"/>
              </a:spcBef>
              <a:spcAft>
                <a:spcPts val="0"/>
              </a:spcAft>
              <a:buClr>
                <a:schemeClr val="dk1"/>
              </a:buClr>
              <a:buSzPts val="2800"/>
              <a:buChar char="•"/>
            </a:pPr>
            <a:r>
              <a:rPr lang="en-US"/>
              <a:t>En </a:t>
            </a:r>
            <a:r>
              <a:rPr lang="en-US"/>
              <a:t>değerli</a:t>
            </a:r>
            <a:r>
              <a:rPr lang="en-US"/>
              <a:t> varlıklarımız bu katmanda yer alır</a:t>
            </a:r>
            <a:endParaRPr/>
          </a:p>
          <a:p>
            <a:pPr indent="-228600" lvl="0" marL="228600" rtl="0" algn="l">
              <a:lnSpc>
                <a:spcPct val="90000"/>
              </a:lnSpc>
              <a:spcBef>
                <a:spcPts val="1000"/>
              </a:spcBef>
              <a:spcAft>
                <a:spcPts val="0"/>
              </a:spcAft>
              <a:buClr>
                <a:schemeClr val="dk1"/>
              </a:buClr>
              <a:buSzPts val="2800"/>
              <a:buChar char="•"/>
            </a:pPr>
            <a:r>
              <a:rPr lang="en-US"/>
              <a:t>Hiç bir katmana bağımlı değildir.</a:t>
            </a:r>
            <a:endParaRPr/>
          </a:p>
          <a:p>
            <a:pPr indent="-228600" lvl="0" marL="228600" rtl="0" algn="l">
              <a:lnSpc>
                <a:spcPct val="90000"/>
              </a:lnSpc>
              <a:spcBef>
                <a:spcPts val="1000"/>
              </a:spcBef>
              <a:spcAft>
                <a:spcPts val="0"/>
              </a:spcAft>
              <a:buClr>
                <a:schemeClr val="dk1"/>
              </a:buClr>
              <a:buSzPts val="2800"/>
              <a:buChar char="•"/>
            </a:pPr>
            <a:r>
              <a:rPr lang="en-US"/>
              <a:t>Uygulama bu katmandan beslenerek iş süreçlerini yönetir.</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Application Layer</a:t>
            </a:r>
            <a:endParaRPr/>
          </a:p>
        </p:txBody>
      </p:sp>
      <p:sp>
        <p:nvSpPr>
          <p:cNvPr id="651" name="Google Shape;651;p8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Sadece Domain katmanına bağımlıdır.</a:t>
            </a:r>
            <a:endParaRPr/>
          </a:p>
          <a:p>
            <a:pPr indent="-228600" lvl="0" marL="228600" rtl="0" algn="l">
              <a:lnSpc>
                <a:spcPct val="90000"/>
              </a:lnSpc>
              <a:spcBef>
                <a:spcPts val="1000"/>
              </a:spcBef>
              <a:spcAft>
                <a:spcPts val="0"/>
              </a:spcAft>
              <a:buClr>
                <a:schemeClr val="dk1"/>
              </a:buClr>
              <a:buSzPts val="2800"/>
              <a:buChar char="•"/>
            </a:pPr>
            <a:r>
              <a:rPr lang="en-US"/>
              <a:t>Bu katman uygulamanın client ile nasıl bir etkileşime gireceğini koordine eden katmandır.</a:t>
            </a:r>
            <a:endParaRPr/>
          </a:p>
          <a:p>
            <a:pPr indent="-228600" lvl="0" marL="228600" rtl="0" algn="l">
              <a:lnSpc>
                <a:spcPct val="90000"/>
              </a:lnSpc>
              <a:spcBef>
                <a:spcPts val="1000"/>
              </a:spcBef>
              <a:spcAft>
                <a:spcPts val="0"/>
              </a:spcAft>
              <a:buClr>
                <a:schemeClr val="dk1"/>
              </a:buClr>
              <a:buSzPts val="2800"/>
              <a:buChar char="•"/>
            </a:pPr>
            <a:r>
              <a:rPr lang="en-US"/>
              <a:t>Soyut </a:t>
            </a:r>
            <a:r>
              <a:rPr lang="en-US"/>
              <a:t>İmplementasyonları</a:t>
            </a:r>
            <a:r>
              <a:rPr lang="en-US"/>
              <a:t> yer verilir. Sadece görevi işin nasıl organize </a:t>
            </a:r>
            <a:r>
              <a:rPr lang="en-US"/>
              <a:t>edilecektir</a:t>
            </a:r>
            <a:r>
              <a:rPr lang="en-US"/>
              <a:t>.</a:t>
            </a:r>
            <a:endParaRPr/>
          </a:p>
          <a:p>
            <a:pPr indent="-228600" lvl="0" marL="228600" rtl="0" algn="l">
              <a:lnSpc>
                <a:spcPct val="90000"/>
              </a:lnSpc>
              <a:spcBef>
                <a:spcPts val="1000"/>
              </a:spcBef>
              <a:spcAft>
                <a:spcPts val="0"/>
              </a:spcAft>
              <a:buClr>
                <a:schemeClr val="dk1"/>
              </a:buClr>
              <a:buSzPts val="2800"/>
              <a:buChar char="•"/>
            </a:pPr>
            <a:r>
              <a:rPr lang="en-US"/>
              <a:t>Herhangi bir Logic barındırmaz.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Infrastructure Layer</a:t>
            </a:r>
            <a:endParaRPr/>
          </a:p>
        </p:txBody>
      </p:sp>
      <p:sp>
        <p:nvSpPr>
          <p:cNvPr id="657" name="Google Shape;657;p8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Teknoloji Değişikliklerinden en çok etkilenen katmandır.</a:t>
            </a:r>
            <a:endParaRPr/>
          </a:p>
          <a:p>
            <a:pPr indent="-228600" lvl="0" marL="228600" rtl="0" algn="l">
              <a:lnSpc>
                <a:spcPct val="90000"/>
              </a:lnSpc>
              <a:spcBef>
                <a:spcPts val="1000"/>
              </a:spcBef>
              <a:spcAft>
                <a:spcPts val="0"/>
              </a:spcAft>
              <a:buClr>
                <a:schemeClr val="dk1"/>
              </a:buClr>
              <a:buSzPts val="2800"/>
              <a:buChar char="•"/>
            </a:pPr>
            <a:r>
              <a:rPr lang="en-US"/>
              <a:t>Sadece Altyapı implementasyonu ile ilgilenir.</a:t>
            </a:r>
            <a:endParaRPr/>
          </a:p>
          <a:p>
            <a:pPr indent="-228600" lvl="0" marL="228600" rtl="0" algn="l">
              <a:lnSpc>
                <a:spcPct val="90000"/>
              </a:lnSpc>
              <a:spcBef>
                <a:spcPts val="1000"/>
              </a:spcBef>
              <a:spcAft>
                <a:spcPts val="0"/>
              </a:spcAft>
              <a:buClr>
                <a:schemeClr val="dk1"/>
              </a:buClr>
              <a:buSzPts val="2800"/>
              <a:buChar char="•"/>
            </a:pPr>
            <a:r>
              <a:rPr lang="en-US"/>
              <a:t>Database,Storage,SMS, Notification, Email vs gibi altyapı servislerini barındırır.</a:t>
            </a:r>
            <a:endParaRPr/>
          </a:p>
          <a:p>
            <a:pPr indent="-228600" lvl="0" marL="228600" rtl="0" algn="l">
              <a:lnSpc>
                <a:spcPct val="90000"/>
              </a:lnSpc>
              <a:spcBef>
                <a:spcPts val="1000"/>
              </a:spcBef>
              <a:spcAft>
                <a:spcPts val="0"/>
              </a:spcAft>
              <a:buClr>
                <a:schemeClr val="dk1"/>
              </a:buClr>
              <a:buSzPts val="2800"/>
              <a:buChar char="•"/>
            </a:pPr>
            <a:r>
              <a:rPr lang="en-US"/>
              <a:t>Application Layer </a:t>
            </a:r>
            <a:r>
              <a:rPr lang="en-US"/>
              <a:t>çağrılarak</a:t>
            </a:r>
            <a:r>
              <a:rPr lang="en-US"/>
              <a:t> </a:t>
            </a:r>
            <a:r>
              <a:rPr lang="en-US"/>
              <a:t>uygulamada</a:t>
            </a:r>
            <a:r>
              <a:rPr lang="en-US"/>
              <a:t> kullanılır.</a:t>
            </a:r>
            <a:endParaRPr/>
          </a:p>
          <a:p>
            <a:pPr indent="-228600" lvl="0" marL="228600" rtl="0" algn="l">
              <a:lnSpc>
                <a:spcPct val="90000"/>
              </a:lnSpc>
              <a:spcBef>
                <a:spcPts val="1000"/>
              </a:spcBef>
              <a:spcAft>
                <a:spcPts val="0"/>
              </a:spcAft>
              <a:buClr>
                <a:schemeClr val="dk1"/>
              </a:buClr>
              <a:buSzPts val="2800"/>
              <a:buChar char="•"/>
            </a:pPr>
            <a:r>
              <a:rPr lang="en-US"/>
              <a:t>Domain katmanında kullanılmamalıdır.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Presentation Layer</a:t>
            </a:r>
            <a:endParaRPr>
              <a:solidFill>
                <a:srgbClr val="DD7E0E"/>
              </a:solidFill>
            </a:endParaRPr>
          </a:p>
        </p:txBody>
      </p:sp>
      <p:sp>
        <p:nvSpPr>
          <p:cNvPr id="663" name="Google Shape;663;p8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Bu katman kullanıcının uygulama ile etkileşime geçtiği katmandır. </a:t>
            </a:r>
            <a:endParaRPr/>
          </a:p>
          <a:p>
            <a:pPr indent="-228600" lvl="0" marL="228600" rtl="0" algn="l">
              <a:lnSpc>
                <a:spcPct val="90000"/>
              </a:lnSpc>
              <a:spcBef>
                <a:spcPts val="1000"/>
              </a:spcBef>
              <a:spcAft>
                <a:spcPts val="0"/>
              </a:spcAft>
              <a:buClr>
                <a:schemeClr val="dk1"/>
              </a:buClr>
              <a:buSzPts val="2800"/>
              <a:buChar char="•"/>
            </a:pPr>
            <a:r>
              <a:rPr lang="en-US"/>
              <a:t>Kullanılan teknolojilere göre farklı uygulama implementasyonları bulunur. (Console,Form, API, Web App)</a:t>
            </a:r>
            <a:endParaRPr/>
          </a:p>
          <a:p>
            <a:pPr indent="-228600" lvl="0" marL="228600" rtl="0" algn="l">
              <a:lnSpc>
                <a:spcPct val="90000"/>
              </a:lnSpc>
              <a:spcBef>
                <a:spcPts val="1000"/>
              </a:spcBef>
              <a:spcAft>
                <a:spcPts val="0"/>
              </a:spcAft>
              <a:buClr>
                <a:schemeClr val="dk1"/>
              </a:buClr>
              <a:buSzPts val="2800"/>
              <a:buChar char="•"/>
            </a:pPr>
            <a:r>
              <a:rPr lang="en-US"/>
              <a:t>Hiç bir katman bu katmana bağımlı olamaz.</a:t>
            </a:r>
            <a:endParaRPr/>
          </a:p>
          <a:p>
            <a:pPr indent="-228600" lvl="0" marL="228600" rtl="0" algn="l">
              <a:lnSpc>
                <a:spcPct val="90000"/>
              </a:lnSpc>
              <a:spcBef>
                <a:spcPts val="1000"/>
              </a:spcBef>
              <a:spcAft>
                <a:spcPts val="0"/>
              </a:spcAft>
              <a:buClr>
                <a:schemeClr val="dk1"/>
              </a:buClr>
              <a:buSzPts val="2800"/>
              <a:buChar char="•"/>
            </a:pPr>
            <a:r>
              <a:rPr lang="en-US"/>
              <a:t>Diğer Tüm katmanları referans alabilir.</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CQRS Pattern (Command Query </a:t>
            </a:r>
            <a:r>
              <a:rPr lang="en-US">
                <a:solidFill>
                  <a:srgbClr val="DD7E0E"/>
                </a:solidFill>
              </a:rPr>
              <a:t>Segregation</a:t>
            </a:r>
            <a:r>
              <a:rPr lang="en-US">
                <a:solidFill>
                  <a:srgbClr val="DD7E0E"/>
                </a:solidFill>
              </a:rPr>
              <a:t> </a:t>
            </a:r>
            <a:r>
              <a:rPr lang="en-US">
                <a:solidFill>
                  <a:srgbClr val="DD7E0E"/>
                </a:solidFill>
              </a:rPr>
              <a:t>Principles</a:t>
            </a:r>
            <a:r>
              <a:rPr lang="en-US">
                <a:solidFill>
                  <a:srgbClr val="DD7E0E"/>
                </a:solidFill>
              </a:rPr>
              <a:t>)</a:t>
            </a:r>
            <a:endParaRPr/>
          </a:p>
        </p:txBody>
      </p:sp>
      <p:sp>
        <p:nvSpPr>
          <p:cNvPr id="670" name="Google Shape;670;p8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800"/>
              <a:buChar char="•"/>
            </a:pPr>
            <a:r>
              <a:rPr lang="en-US"/>
              <a:t>Mediator Design Pattern</a:t>
            </a:r>
            <a:endParaRPr/>
          </a:p>
          <a:p>
            <a:pPr indent="-228600" lvl="0" marL="228600" rtl="0" algn="l">
              <a:lnSpc>
                <a:spcPct val="90000"/>
              </a:lnSpc>
              <a:spcBef>
                <a:spcPts val="1000"/>
              </a:spcBef>
              <a:spcAft>
                <a:spcPts val="0"/>
              </a:spcAft>
              <a:buClr>
                <a:schemeClr val="dk1"/>
              </a:buClr>
              <a:buSzPts val="2800"/>
              <a:buChar char="•"/>
            </a:pPr>
            <a:r>
              <a:rPr lang="en-US"/>
              <a:t>Readonly ve Writeonly ilgileri birbirinden ayırır.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671" name="Google Shape;671;p88"/>
          <p:cNvPicPr preferRelativeResize="0"/>
          <p:nvPr/>
        </p:nvPicPr>
        <p:blipFill rotWithShape="1">
          <a:blip r:embed="rId3">
            <a:alphaModFix/>
          </a:blip>
          <a:srcRect b="0" l="0" r="0" t="0"/>
          <a:stretch/>
        </p:blipFill>
        <p:spPr>
          <a:xfrm>
            <a:off x="2758252" y="3019954"/>
            <a:ext cx="5330237" cy="2981797"/>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CQRS İzolasyon Seviyeleri</a:t>
            </a:r>
            <a:endParaRPr>
              <a:solidFill>
                <a:srgbClr val="DD7E0E"/>
              </a:solidFill>
            </a:endParaRPr>
          </a:p>
        </p:txBody>
      </p:sp>
      <p:sp>
        <p:nvSpPr>
          <p:cNvPr id="678" name="Google Shape;678;p8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1.Seviye tek bir veritabanı kullanmaktır, okuma ve yazma işlemleri ayrımı</a:t>
            </a:r>
            <a:endParaRPr sz="2400"/>
          </a:p>
          <a:p>
            <a:pPr indent="-228600" lvl="0" marL="228600" rtl="0" algn="l">
              <a:lnSpc>
                <a:spcPct val="90000"/>
              </a:lnSpc>
              <a:spcBef>
                <a:spcPts val="1000"/>
              </a:spcBef>
              <a:spcAft>
                <a:spcPts val="0"/>
              </a:spcAft>
              <a:buClr>
                <a:schemeClr val="dk1"/>
              </a:buClr>
              <a:buSzPts val="2400"/>
              <a:buChar char="•"/>
            </a:pPr>
            <a:r>
              <a:rPr lang="en-US" sz="2400"/>
              <a:t>2.Seviye ise iki ayrı veri tabanı kullanmaktır, okuma</a:t>
            </a:r>
            <a:r>
              <a:rPr lang="en-US" sz="2400">
                <a:solidFill>
                  <a:srgbClr val="DD7E0E"/>
                </a:solidFill>
              </a:rPr>
              <a:t> (document-based)</a:t>
            </a:r>
            <a:r>
              <a:rPr lang="en-US" sz="2400"/>
              <a:t>, yazma </a:t>
            </a:r>
            <a:r>
              <a:rPr lang="en-US" sz="2400">
                <a:solidFill>
                  <a:srgbClr val="DD7E0E"/>
                </a:solidFill>
              </a:rPr>
              <a:t>(relational)  </a:t>
            </a:r>
            <a:endParaRPr/>
          </a:p>
          <a:p>
            <a:pPr indent="-76200" lvl="0" marL="22860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rgbClr val="DD7E0E"/>
              </a:buClr>
              <a:buSzPts val="2400"/>
              <a:buNone/>
            </a:pPr>
            <a:r>
              <a:rPr lang="en-US" sz="2400">
                <a:solidFill>
                  <a:srgbClr val="DD7E0E"/>
                </a:solidFill>
              </a:rPr>
              <a:t>Not:</a:t>
            </a:r>
            <a:r>
              <a:rPr lang="en-US" sz="2400"/>
              <a:t> Veri tabanları ayrıldığında senkronizasyonu sağlamak zorundayız.</a:t>
            </a:r>
            <a:endParaRPr/>
          </a:p>
          <a:p>
            <a:pPr indent="0" lvl="0" marL="0" rtl="0" algn="l">
              <a:lnSpc>
                <a:spcPct val="90000"/>
              </a:lnSpc>
              <a:spcBef>
                <a:spcPts val="1000"/>
              </a:spcBef>
              <a:spcAft>
                <a:spcPts val="0"/>
              </a:spcAft>
              <a:buClr>
                <a:schemeClr val="dk1"/>
              </a:buClr>
              <a:buSzPts val="2400"/>
              <a:buNone/>
            </a:pPr>
            <a:r>
              <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ShapesVTI">
  <a:themeElements>
    <a:clrScheme name="Ofis">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